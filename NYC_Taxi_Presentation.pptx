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4"/>
        </a:solidFill>
      </p:bgPr>
    </p:bg>
    <p:spTree>
      <p:nvGrpSpPr>
        <p:cNvPr id="1" name=""/>
        <p:cNvGrpSpPr/>
        <p:nvPr/>
      </p:nvGrpSpPr>
      <p:grpSpPr>
        <a:xfrm>
          <a:off x="0" y="0"/>
          <a:ext cx="0" cy="0"/>
          <a:chOff x="0" y="0"/>
          <a:chExt cx="0" cy="0"/>
        </a:xfrm>
      </p:grpSpPr>
      <p:pic>
        <p:nvPicPr>
          <p:cNvPr id="2" name="Image 0" descr="/home/claude/imgs3/taxi_cover.png">    </p:cNvPr>
          <p:cNvPicPr>
            <a:picLocks noChangeAspect="1"/>
          </p:cNvPicPr>
          <p:nvPr/>
        </p:nvPicPr>
        <p:blipFill>
          <a:blip r:embed="rId1"/>
          <a:srcRect l="0" r="0" t="0" b="0"/>
          <a:stretch/>
        </p:blipFill>
        <p:spPr>
          <a:xfrm>
            <a:off x="7452360" y="0"/>
            <a:ext cx="4709160" cy="6858000"/>
          </a:xfrm>
          <a:prstGeom prst="rect">
            <a:avLst/>
          </a:prstGeom>
        </p:spPr>
      </p:pic>
      <p:sp>
        <p:nvSpPr>
          <p:cNvPr id="3" name="Text 0"/>
          <p:cNvSpPr txBox="1"/>
          <p:nvPr/>
        </p:nvSpPr>
        <p:spPr>
          <a:xfrm>
            <a:off x="640080" y="2377440"/>
            <a:ext cx="658368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NYC Taxi Trip Duration</a:t>
            </a:r>
            <a:endParaRPr lang="en-US" sz="3800" dirty="0"/>
          </a:p>
        </p:txBody>
      </p:sp>
      <p:sp>
        <p:nvSpPr>
          <p:cNvPr id="4" name="Text 1"/>
          <p:cNvSpPr txBox="1"/>
          <p:nvPr/>
        </p:nvSpPr>
        <p:spPr>
          <a:xfrm>
            <a:off x="640080" y="3383280"/>
            <a:ext cx="6583680" cy="54864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Problem Definition through Predictive Modelling</a:t>
            </a:r>
            <a:endParaRPr lang="en-US" sz="1800" dirty="0"/>
          </a:p>
        </p:txBody>
      </p:sp>
      <p:sp>
        <p:nvSpPr>
          <p:cNvPr id="5" name="Shape 2"/>
          <p:cNvSpPr/>
          <p:nvPr/>
        </p:nvSpPr>
        <p:spPr>
          <a:xfrm>
            <a:off x="640080" y="4023360"/>
            <a:ext cx="2377440" cy="0"/>
          </a:xfrm>
          <a:prstGeom prst="line">
            <a:avLst/>
          </a:prstGeom>
          <a:noFill/>
          <a:ln w="31750">
            <a:solidFill>
              <a:srgbClr val="C9A227"/>
            </a:solidFill>
            <a:prstDash val="solid"/>
          </a:ln>
        </p:spPr>
      </p:sp>
      <p:sp>
        <p:nvSpPr>
          <p:cNvPr id="6" name="Text 3"/>
          <p:cNvSpPr txBox="1"/>
          <p:nvPr/>
        </p:nvSpPr>
        <p:spPr>
          <a:xfrm>
            <a:off x="640080" y="4251960"/>
            <a:ext cx="6400800" cy="1188720"/>
          </a:xfrm>
          <a:prstGeom prst="rect">
            <a:avLst/>
          </a:prstGeom>
          <a:noFill/>
          <a:ln/>
        </p:spPr>
        <p:txBody>
          <a:bodyPr wrap="square" lIns="0" tIns="0" rIns="0" bIns="0" rtlCol="0" anchor="ctr"/>
          <a:lstStyle/>
          <a:p>
            <a:pPr indent="0" marL="0">
              <a:spcAft>
                <a:spcPts val="400"/>
              </a:spcAft>
              <a:buNone/>
            </a:pPr>
            <a:r>
              <a:rPr lang="en-US" sz="1400" dirty="0">
                <a:solidFill>
                  <a:srgbClr val="D9D9D9"/>
                </a:solidFill>
                <a:latin typeface="Calibri" pitchFamily="34" charset="0"/>
                <a:ea typeface="Calibri" pitchFamily="34" charset="-122"/>
                <a:cs typeface="Calibri" pitchFamily="34" charset="-120"/>
              </a:rPr>
              <a:t>ECSA Graduate Attribute Project 1</a:t>
            </a:r>
            <a:endParaRPr lang="en-US" sz="1400" dirty="0"/>
          </a:p>
          <a:p>
            <a:pPr indent="0" marL="0">
              <a:spcAft>
                <a:spcPts val="400"/>
              </a:spcAft>
              <a:buNone/>
            </a:pPr>
            <a:r>
              <a:rPr lang="en-US" sz="1400" dirty="0">
                <a:solidFill>
                  <a:srgbClr val="D9D9D9"/>
                </a:solidFill>
                <a:latin typeface="Calibri" pitchFamily="34" charset="0"/>
                <a:ea typeface="Calibri" pitchFamily="34" charset="-122"/>
                <a:cs typeface="Calibri" pitchFamily="34" charset="-120"/>
              </a:rPr>
              <a:t>Name: Thato Xauka</a:t>
            </a:r>
            <a:endParaRPr lang="en-US" sz="1400" dirty="0"/>
          </a:p>
          <a:p>
            <a:pPr indent="0" marL="0">
              <a:spcAft>
                <a:spcPts val="400"/>
              </a:spcAft>
              <a:buNone/>
            </a:pPr>
            <a:r>
              <a:rPr lang="en-US" sz="1400" dirty="0">
                <a:solidFill>
                  <a:srgbClr val="D9D9D9"/>
                </a:solidFill>
                <a:latin typeface="Calibri" pitchFamily="34" charset="0"/>
                <a:ea typeface="Calibri" pitchFamily="34" charset="-122"/>
                <a:cs typeface="Calibri" pitchFamily="34" charset="-120"/>
              </a:rPr>
              <a:t>Programme: WIL AI/ML Programme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Model Building Life Cycle</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sp>
        <p:nvSpPr>
          <p:cNvPr id="4" name="Text 2"/>
          <p:cNvSpPr txBox="1"/>
          <p:nvPr/>
        </p:nvSpPr>
        <p:spPr>
          <a:xfrm>
            <a:off x="548640" y="1234440"/>
            <a:ext cx="11064240" cy="5212080"/>
          </a:xfrm>
          <a:prstGeom prst="rect">
            <a:avLst/>
          </a:prstGeom>
          <a:noFill/>
          <a:ln/>
        </p:spPr>
        <p:txBody>
          <a:bodyPr wrap="square" lIns="0" tIns="0" rIns="0" bIns="0" rtlCol="0" anchor="t"/>
          <a:lstStyle/>
          <a:p>
            <a:pPr marL="342900" indent="-342900">
              <a:spcAft>
                <a:spcPts val="1000"/>
              </a:spcAft>
              <a:buSzPct val="100000"/>
              <a:buChar char="•"/>
            </a:pPr>
            <a:r>
              <a:rPr lang="en-US" sz="1900" dirty="0">
                <a:solidFill>
                  <a:srgbClr val="2B2B2B"/>
                </a:solidFill>
                <a:latin typeface="Calibri" pitchFamily="34" charset="0"/>
                <a:ea typeface="Calibri" pitchFamily="34" charset="-122"/>
                <a:cs typeface="Calibri" pitchFamily="34" charset="-120"/>
              </a:rPr>
              <a:t>Stage 1 — Problem Definition (TOSCAR)</a:t>
            </a:r>
            <a:endParaRPr lang="en-US" sz="1900" dirty="0"/>
          </a:p>
          <a:p>
            <a:pPr marL="342900" indent="-342900">
              <a:spcAft>
                <a:spcPts val="1000"/>
              </a:spcAft>
              <a:buSzPct val="100000"/>
              <a:buChar char="•"/>
            </a:pPr>
            <a:r>
              <a:rPr lang="en-US" sz="1900" dirty="0">
                <a:solidFill>
                  <a:srgbClr val="2B2B2B"/>
                </a:solidFill>
                <a:latin typeface="Calibri" pitchFamily="34" charset="0"/>
                <a:ea typeface="Calibri" pitchFamily="34" charset="-122"/>
                <a:cs typeface="Calibri" pitchFamily="34" charset="-120"/>
              </a:rPr>
              <a:t>Stage 2 — Hypothesis Generation</a:t>
            </a:r>
            <a:endParaRPr lang="en-US" sz="1900" dirty="0"/>
          </a:p>
          <a:p>
            <a:pPr marL="342900" indent="-342900">
              <a:spcAft>
                <a:spcPts val="1000"/>
              </a:spcAft>
              <a:buSzPct val="100000"/>
              <a:buChar char="•"/>
            </a:pPr>
            <a:r>
              <a:rPr lang="en-US" sz="1900" dirty="0">
                <a:solidFill>
                  <a:srgbClr val="2B2B2B"/>
                </a:solidFill>
                <a:latin typeface="Calibri" pitchFamily="34" charset="0"/>
                <a:ea typeface="Calibri" pitchFamily="34" charset="-122"/>
                <a:cs typeface="Calibri" pitchFamily="34" charset="-120"/>
              </a:rPr>
              <a:t>Stage 3 — Data Extraction / Collection</a:t>
            </a:r>
            <a:endParaRPr lang="en-US" sz="1900" dirty="0"/>
          </a:p>
          <a:p>
            <a:pPr marL="342900" indent="-342900">
              <a:spcAft>
                <a:spcPts val="1000"/>
              </a:spcAft>
              <a:buSzPct val="100000"/>
              <a:buChar char="•"/>
            </a:pPr>
            <a:r>
              <a:rPr lang="en-US" sz="1900" dirty="0">
                <a:solidFill>
                  <a:srgbClr val="2B2B2B"/>
                </a:solidFill>
                <a:latin typeface="Calibri" pitchFamily="34" charset="0"/>
                <a:ea typeface="Calibri" pitchFamily="34" charset="-122"/>
                <a:cs typeface="Calibri" pitchFamily="34" charset="-120"/>
              </a:rPr>
              <a:t>Stage 4 — Data Exploration &amp; Transformation (EDA)</a:t>
            </a:r>
            <a:endParaRPr lang="en-US" sz="1900" dirty="0"/>
          </a:p>
          <a:p>
            <a:pPr marL="342900" indent="-342900">
              <a:spcAft>
                <a:spcPts val="1000"/>
              </a:spcAft>
              <a:buSzPct val="100000"/>
              <a:buChar char="•"/>
            </a:pPr>
            <a:r>
              <a:rPr lang="en-US" sz="1900" dirty="0">
                <a:solidFill>
                  <a:srgbClr val="2B2B2B"/>
                </a:solidFill>
                <a:latin typeface="Calibri" pitchFamily="34" charset="0"/>
                <a:ea typeface="Calibri" pitchFamily="34" charset="-122"/>
                <a:cs typeface="Calibri" pitchFamily="34" charset="-120"/>
              </a:rPr>
              <a:t>Stage 5 — Predictive Modelling</a:t>
            </a:r>
            <a:endParaRPr lang="en-US" sz="1900" dirty="0"/>
          </a:p>
          <a:p>
            <a:pPr marL="342900" indent="-342900">
              <a:spcAft>
                <a:spcPts val="1000"/>
              </a:spcAft>
              <a:buSzPct val="100000"/>
              <a:buChar char="•"/>
            </a:pPr>
            <a:r>
              <a:rPr lang="en-US" sz="1900" dirty="0">
                <a:solidFill>
                  <a:srgbClr val="2B2B2B"/>
                </a:solidFill>
                <a:latin typeface="Calibri" pitchFamily="34" charset="0"/>
                <a:ea typeface="Calibri" pitchFamily="34" charset="-122"/>
                <a:cs typeface="Calibri" pitchFamily="34" charset="-120"/>
              </a:rPr>
              <a:t>Dataset: NYC Taxi Trip Duration (NYC.csv)</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Stage 1: Problem Definition — TOSCAR</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sp>
        <p:nvSpPr>
          <p:cNvPr id="4" name="Text 2"/>
          <p:cNvSpPr txBox="1"/>
          <p:nvPr/>
        </p:nvSpPr>
        <p:spPr>
          <a:xfrm>
            <a:off x="548640" y="1234440"/>
            <a:ext cx="11064240" cy="52120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TOSCAR is used to frame the problem before any data is examined.</a:t>
            </a:r>
            <a:endParaRPr lang="en-US" sz="16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Six questions: Trouble, Owner, Success Criteria, Constraints, Actors, References.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T — Trouble   |   O — Owner</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sp>
        <p:nvSpPr>
          <p:cNvPr id="4" name="Text 2"/>
          <p:cNvSpPr txBox="1"/>
          <p:nvPr/>
        </p:nvSpPr>
        <p:spPr>
          <a:xfrm>
            <a:off x="548640" y="1234440"/>
            <a:ext cx="11064240" cy="5212080"/>
          </a:xfrm>
          <a:prstGeom prst="rect">
            <a:avLst/>
          </a:prstGeom>
          <a:noFill/>
          <a:ln/>
        </p:spPr>
        <p:txBody>
          <a:bodyPr wrap="square" lIns="0" tIns="0" rIns="0" bIns="0" rtlCol="0" anchor="t"/>
          <a:lstStyle/>
          <a:p>
            <a:pPr indent="0" marL="0">
              <a:spcAft>
                <a:spcPts val="1000"/>
              </a:spcAft>
              <a:buNone/>
            </a:pPr>
            <a:r>
              <a:rPr lang="en-US" sz="1600" b="1" dirty="0">
                <a:solidFill>
                  <a:srgbClr val="1F2A44"/>
                </a:solidFill>
                <a:latin typeface="Calibri" pitchFamily="34" charset="0"/>
                <a:ea typeface="Calibri" pitchFamily="34" charset="-122"/>
                <a:cs typeface="Calibri" pitchFamily="34" charset="-120"/>
              </a:rPr>
              <a:t>T — Trouble</a:t>
            </a:r>
            <a:endParaRPr lang="en-US" sz="16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What is the pain point? Riders and dispatchers receive inaccurate trip-duration estimates (ETAs) — duration is only known after the trip ends.</a:t>
            </a:r>
            <a:endParaRPr lang="en-US" sz="1600" dirty="0"/>
          </a:p>
          <a:p>
            <a:pPr indent="0" marL="0">
              <a:spcAft>
                <a:spcPts val="1000"/>
              </a:spcAft>
              <a:buNone/>
            </a:pPr>
            <a:r>
              <a:rPr lang="en-US" sz="1600" b="1" dirty="0">
                <a:solidFill>
                  <a:srgbClr val="1F2A44"/>
                </a:solidFill>
                <a:latin typeface="Calibri" pitchFamily="34" charset="0"/>
                <a:ea typeface="Calibri" pitchFamily="34" charset="-122"/>
                <a:cs typeface="Calibri" pitchFamily="34" charset="-120"/>
              </a:rPr>
              <a:t>O — Owner</a:t>
            </a:r>
            <a:endParaRPr lang="en-US" sz="16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Who is most impacted? Taxi companies and dispatchers, who are directly responsible for fleet allocation.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S — Success Criteria   |   C — Constraints</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sp>
        <p:nvSpPr>
          <p:cNvPr id="4" name="Text 2"/>
          <p:cNvSpPr txBox="1"/>
          <p:nvPr/>
        </p:nvSpPr>
        <p:spPr>
          <a:xfrm>
            <a:off x="548640" y="1234440"/>
            <a:ext cx="11064240" cy="5212080"/>
          </a:xfrm>
          <a:prstGeom prst="rect">
            <a:avLst/>
          </a:prstGeom>
          <a:noFill/>
          <a:ln/>
        </p:spPr>
        <p:txBody>
          <a:bodyPr wrap="square" lIns="0" tIns="0" rIns="0" bIns="0" rtlCol="0" anchor="t"/>
          <a:lstStyle/>
          <a:p>
            <a:pPr indent="0" marL="0">
              <a:spcAft>
                <a:spcPts val="1000"/>
              </a:spcAft>
              <a:buNone/>
            </a:pPr>
            <a:r>
              <a:rPr lang="en-US" sz="1550" b="1" dirty="0">
                <a:solidFill>
                  <a:srgbClr val="1F2A44"/>
                </a:solidFill>
                <a:latin typeface="Calibri" pitchFamily="34" charset="0"/>
                <a:ea typeface="Calibri" pitchFamily="34" charset="-122"/>
                <a:cs typeface="Calibri" pitchFamily="34" charset="-120"/>
              </a:rPr>
              <a:t>S — Success Criteria</a:t>
            </a:r>
            <a:endParaRPr lang="en-US" sz="1550" dirty="0"/>
          </a:p>
          <a:p>
            <a:pPr marL="342900" indent="-342900">
              <a:spcAft>
                <a:spcPts val="1000"/>
              </a:spcAft>
              <a:buSzPct val="100000"/>
              <a:buChar char="•"/>
            </a:pPr>
            <a:r>
              <a:rPr lang="en-US" sz="1550" dirty="0">
                <a:solidFill>
                  <a:srgbClr val="2B2B2B"/>
                </a:solidFill>
                <a:latin typeface="Calibri" pitchFamily="34" charset="0"/>
                <a:ea typeface="Calibri" pitchFamily="34" charset="-122"/>
                <a:cs typeface="Calibri" pitchFamily="34" charset="-120"/>
              </a:rPr>
              <a:t>Accurate trip-duration estimates before a trip begins, fewer rider complaints, better fleet allocation, more customer trust.</a:t>
            </a:r>
            <a:endParaRPr lang="en-US" sz="1550" dirty="0"/>
          </a:p>
          <a:p>
            <a:pPr marL="342900" indent="-342900">
              <a:spcAft>
                <a:spcPts val="1000"/>
              </a:spcAft>
              <a:buSzPct val="100000"/>
              <a:buChar char="•"/>
            </a:pPr>
            <a:r>
              <a:rPr lang="en-US" sz="1550" dirty="0">
                <a:solidFill>
                  <a:srgbClr val="2B2B2B"/>
                </a:solidFill>
                <a:latin typeface="Calibri" pitchFamily="34" charset="0"/>
                <a:ea typeface="Calibri" pitchFamily="34" charset="-122"/>
                <a:cs typeface="Calibri" pitchFamily="34" charset="-120"/>
              </a:rPr>
              <a:t>This project covers Problem Definition through EDA only — no model exists yet to evaluate. A future modelling stage would measure success by how closely predicted duration matches actual duration.</a:t>
            </a:r>
            <a:endParaRPr lang="en-US" sz="1550" dirty="0"/>
          </a:p>
          <a:p>
            <a:pPr indent="0" marL="0">
              <a:spcAft>
                <a:spcPts val="1000"/>
              </a:spcAft>
              <a:buNone/>
            </a:pPr>
            <a:r>
              <a:rPr lang="en-US" sz="1550" b="1" dirty="0">
                <a:solidFill>
                  <a:srgbClr val="1F2A44"/>
                </a:solidFill>
                <a:latin typeface="Calibri" pitchFamily="34" charset="0"/>
                <a:ea typeface="Calibri" pitchFamily="34" charset="-122"/>
                <a:cs typeface="Calibri" pitchFamily="34" charset="-120"/>
              </a:rPr>
              <a:t>C — Constraints</a:t>
            </a:r>
            <a:endParaRPr lang="en-US" sz="1550" dirty="0"/>
          </a:p>
          <a:p>
            <a:pPr marL="342900" indent="-342900">
              <a:spcAft>
                <a:spcPts val="1000"/>
              </a:spcAft>
              <a:buSzPct val="100000"/>
              <a:buChar char="•"/>
            </a:pPr>
            <a:r>
              <a:rPr lang="en-US" sz="1550" dirty="0">
                <a:solidFill>
                  <a:srgbClr val="2B2B2B"/>
                </a:solidFill>
                <a:latin typeface="Calibri" pitchFamily="34" charset="0"/>
                <a:ea typeface="Calibri" pitchFamily="34" charset="-122"/>
                <a:cs typeface="Calibri" pitchFamily="34" charset="-120"/>
              </a:rPr>
              <a:t>Only historical trip records are available — no live traffic or weather feed. Any future prediction would also need to run fast enough for near real-time dispatch.</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A — Actors   |   R — References</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sp>
        <p:nvSpPr>
          <p:cNvPr id="4" name="Text 2"/>
          <p:cNvSpPr txBox="1"/>
          <p:nvPr/>
        </p:nvSpPr>
        <p:spPr>
          <a:xfrm>
            <a:off x="548640" y="1234440"/>
            <a:ext cx="11064240" cy="5212080"/>
          </a:xfrm>
          <a:prstGeom prst="rect">
            <a:avLst/>
          </a:prstGeom>
          <a:noFill/>
          <a:ln/>
        </p:spPr>
        <p:txBody>
          <a:bodyPr wrap="square" lIns="0" tIns="0" rIns="0" bIns="0" rtlCol="0" anchor="t"/>
          <a:lstStyle/>
          <a:p>
            <a:pPr indent="0" marL="0">
              <a:spcAft>
                <a:spcPts val="1000"/>
              </a:spcAft>
              <a:buNone/>
            </a:pPr>
            <a:r>
              <a:rPr lang="en-US" sz="1600" b="1" dirty="0">
                <a:solidFill>
                  <a:srgbClr val="1F2A44"/>
                </a:solidFill>
                <a:latin typeface="Calibri" pitchFamily="34" charset="0"/>
                <a:ea typeface="Calibri" pitchFamily="34" charset="-122"/>
                <a:cs typeface="Calibri" pitchFamily="34" charset="-120"/>
              </a:rPr>
              <a:t>A — Actors</a:t>
            </a:r>
            <a:endParaRPr lang="en-US" sz="16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Passengers (need reliable ETAs), Drivers (need fair scheduling), Dispatchers/Operations Managers (need efficient fleet allocation), Taxi companies/vendors (need revenue and trust).</a:t>
            </a:r>
            <a:endParaRPr lang="en-US" sz="1600" dirty="0"/>
          </a:p>
          <a:p>
            <a:pPr indent="0" marL="0">
              <a:spcAft>
                <a:spcPts val="1000"/>
              </a:spcAft>
              <a:buNone/>
            </a:pPr>
            <a:r>
              <a:rPr lang="en-US" sz="1600" b="1" dirty="0">
                <a:solidFill>
                  <a:srgbClr val="1F2A44"/>
                </a:solidFill>
                <a:latin typeface="Calibri" pitchFamily="34" charset="0"/>
                <a:ea typeface="Calibri" pitchFamily="34" charset="-122"/>
                <a:cs typeface="Calibri" pitchFamily="34" charset="-120"/>
              </a:rPr>
              <a:t>R — References</a:t>
            </a:r>
            <a:endParaRPr lang="en-US" sz="16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The historical NYC TLC Yellow Cab dataset (NYC.csv) — pickup/dropoff coordinates, timestamps, vendor info, passenger counts, and actual trip durations.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Final Problem Statement</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sp>
        <p:nvSpPr>
          <p:cNvPr id="4" name="Text 2"/>
          <p:cNvSpPr txBox="1"/>
          <p:nvPr/>
        </p:nvSpPr>
        <p:spPr>
          <a:xfrm>
            <a:off x="548640" y="1234440"/>
            <a:ext cx="11064240" cy="521208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B2B2B"/>
                </a:solidFill>
                <a:latin typeface="Calibri" pitchFamily="34" charset="0"/>
                <a:ea typeface="Calibri" pitchFamily="34" charset="-122"/>
                <a:cs typeface="Calibri" pitchFamily="34" charset="-120"/>
              </a:rPr>
              <a:t>Trip duration for NYC taxi rides is unpredictable, causing dispatchers to misallocate taxis, passengers to receive unreliable ETAs, drivers to lose income from inefficient scheduling, and taxi companies to lose customer trust and revenue.</a:t>
            </a:r>
            <a:endParaRPr lang="en-US" sz="1800" dirty="0"/>
          </a:p>
          <a:p>
            <a:pPr indent="0" marL="0">
              <a:spcAft>
                <a:spcPts val="1000"/>
              </a:spcAft>
              <a:buNone/>
            </a:pPr>
            <a:r>
              <a:rPr lang="en-US" sz="1800" b="1" dirty="0">
                <a:solidFill>
                  <a:srgbClr val="1F2A44"/>
                </a:solidFill>
                <a:latin typeface="Calibri" pitchFamily="34" charset="0"/>
                <a:ea typeface="Calibri" pitchFamily="34" charset="-122"/>
                <a:cs typeface="Calibri" pitchFamily="34" charset="-120"/>
              </a:rPr>
              <a:t>Guiding question:</a:t>
            </a:r>
            <a:endParaRPr lang="en-US" sz="1800" dirty="0"/>
          </a:p>
          <a:p>
            <a:pPr marL="342900" indent="-342900">
              <a:spcAft>
                <a:spcPts val="1000"/>
              </a:spcAft>
              <a:buSzPct val="100000"/>
              <a:buChar char="•"/>
            </a:pPr>
            <a:r>
              <a:rPr lang="en-US" sz="1800" dirty="0">
                <a:solidFill>
                  <a:srgbClr val="2B2B2B"/>
                </a:solidFill>
                <a:latin typeface="Calibri" pitchFamily="34" charset="0"/>
                <a:ea typeface="Calibri" pitchFamily="34" charset="-122"/>
                <a:cs typeface="Calibri" pitchFamily="34" charset="-120"/>
              </a:rPr>
              <a:t>“Which factors in a taxi trip's pickup information can help us understand and estimate trip duration before the trip begins?”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Stage 2: Hypothesis Generation</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sp>
        <p:nvSpPr>
          <p:cNvPr id="4" name="Text 2"/>
          <p:cNvSpPr txBox="1"/>
          <p:nvPr/>
        </p:nvSpPr>
        <p:spPr>
          <a:xfrm>
            <a:off x="548640" y="1234440"/>
            <a:ext cx="11064240" cy="521208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2B2B2B"/>
                </a:solidFill>
                <a:latin typeface="Calibri" pitchFamily="34" charset="0"/>
                <a:ea typeface="Calibri" pitchFamily="34" charset="-122"/>
                <a:cs typeface="Calibri" pitchFamily="34" charset="-120"/>
              </a:rPr>
              <a:t>H1 — Trips covering a longer distance take longer.</a:t>
            </a:r>
            <a:endParaRPr lang="en-US" sz="1700" dirty="0"/>
          </a:p>
          <a:p>
            <a:pPr marL="342900" indent="-342900">
              <a:spcAft>
                <a:spcPts val="1000"/>
              </a:spcAft>
              <a:buSzPct val="100000"/>
              <a:buChar char="•"/>
            </a:pPr>
            <a:r>
              <a:rPr lang="en-US" sz="1700" dirty="0">
                <a:solidFill>
                  <a:srgbClr val="2B2B2B"/>
                </a:solidFill>
                <a:latin typeface="Calibri" pitchFamily="34" charset="0"/>
                <a:ea typeface="Calibri" pitchFamily="34" charset="-122"/>
                <a:cs typeface="Calibri" pitchFamily="34" charset="-120"/>
              </a:rPr>
              <a:t>H2 — Trips during rush hour (7–9am, 4–7pm) take longer than off-peak trips.</a:t>
            </a:r>
            <a:endParaRPr lang="en-US" sz="1700" dirty="0"/>
          </a:p>
          <a:p>
            <a:pPr marL="342900" indent="-342900">
              <a:spcAft>
                <a:spcPts val="1000"/>
              </a:spcAft>
              <a:buSzPct val="100000"/>
              <a:buChar char="•"/>
            </a:pPr>
            <a:r>
              <a:rPr lang="en-US" sz="1700" dirty="0">
                <a:solidFill>
                  <a:srgbClr val="2B2B2B"/>
                </a:solidFill>
                <a:latin typeface="Calibri" pitchFamily="34" charset="0"/>
                <a:ea typeface="Calibri" pitchFamily="34" charset="-122"/>
                <a:cs typeface="Calibri" pitchFamily="34" charset="-120"/>
              </a:rPr>
              <a:t>H3 — Weekday trips take longer than weekend trips.</a:t>
            </a:r>
            <a:endParaRPr lang="en-US" sz="1700" dirty="0"/>
          </a:p>
          <a:p>
            <a:pPr marL="342900" indent="-342900">
              <a:spcAft>
                <a:spcPts val="1000"/>
              </a:spcAft>
              <a:buSzPct val="100000"/>
              <a:buChar char="•"/>
            </a:pPr>
            <a:r>
              <a:rPr lang="en-US" sz="1700" dirty="0">
                <a:solidFill>
                  <a:srgbClr val="2B2B2B"/>
                </a:solidFill>
                <a:latin typeface="Calibri" pitchFamily="34" charset="0"/>
                <a:ea typeface="Calibri" pitchFamily="34" charset="-122"/>
                <a:cs typeface="Calibri" pitchFamily="34" charset="-120"/>
              </a:rPr>
              <a:t>H4 — Trips with more passengers may have longer trip durations.</a:t>
            </a:r>
            <a:endParaRPr lang="en-US" sz="1700" dirty="0"/>
          </a:p>
          <a:p>
            <a:pPr marL="342900" indent="-342900">
              <a:spcAft>
                <a:spcPts val="1000"/>
              </a:spcAft>
              <a:buSzPct val="100000"/>
              <a:buChar char="•"/>
            </a:pPr>
            <a:r>
              <a:rPr lang="en-US" sz="1700" dirty="0">
                <a:solidFill>
                  <a:srgbClr val="2B2B2B"/>
                </a:solidFill>
                <a:latin typeface="Calibri" pitchFamily="34" charset="0"/>
                <a:ea typeface="Calibri" pitchFamily="34" charset="-122"/>
                <a:cs typeface="Calibri" pitchFamily="34" charset="-120"/>
              </a:rPr>
              <a:t>H5 — Trip duration may differ between the two vendors.</a:t>
            </a:r>
            <a:endParaRPr lang="en-US" sz="1700" dirty="0"/>
          </a:p>
          <a:p>
            <a:pPr marL="342900" indent="-342900">
              <a:spcAft>
                <a:spcPts val="1000"/>
              </a:spcAft>
              <a:buSzPct val="100000"/>
              <a:buChar char="•"/>
            </a:pPr>
            <a:r>
              <a:rPr lang="en-US" sz="1700" dirty="0">
                <a:solidFill>
                  <a:srgbClr val="2B2B2B"/>
                </a:solidFill>
                <a:latin typeface="Calibri" pitchFamily="34" charset="0"/>
                <a:ea typeface="Calibri" pitchFamily="34" charset="-122"/>
                <a:cs typeface="Calibri" pitchFamily="34" charset="-120"/>
              </a:rPr>
              <a:t>H6 — Trips taken at different times of the day may have different trip durations.</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Stage 3: Data Extraction / Collection</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sp>
        <p:nvSpPr>
          <p:cNvPr id="4" name="Text 2"/>
          <p:cNvSpPr txBox="1"/>
          <p:nvPr/>
        </p:nvSpPr>
        <p:spPr>
          <a:xfrm>
            <a:off x="548640" y="1234440"/>
            <a:ext cx="11064240" cy="52120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Libraries imported: pandas, numpy, matplotlib, seaborn, scipy.stats</a:t>
            </a:r>
            <a:endParaRPr lang="en-US" sz="16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Dataset loaded: data = pd.read_csv('NYC.csv')</a:t>
            </a:r>
            <a:endParaRPr lang="en-US" sz="16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Structural checks performed before any cleaning:</a:t>
            </a:r>
            <a:endParaRPr lang="en-US" sz="16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  data.head() / data.tail() — confirm the file loaded correctly start to end</a:t>
            </a:r>
            <a:endParaRPr lang="en-US" sz="16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  data.shape — 1,458,644 rows x 11 columns</a:t>
            </a:r>
            <a:endParaRPr lang="en-US" sz="16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  data.columns — confirm all column names</a:t>
            </a:r>
            <a:endParaRPr lang="en-US" sz="16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  data.dtypes — check data types of every column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Stage 4: Data Exploration &amp; Transformation</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sp>
        <p:nvSpPr>
          <p:cNvPr id="4" name="Text 2"/>
          <p:cNvSpPr txBox="1"/>
          <p:nvPr/>
        </p:nvSpPr>
        <p:spPr>
          <a:xfrm>
            <a:off x="548640" y="1234440"/>
            <a:ext cx="11064240" cy="521208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2B2B2B"/>
                </a:solidFill>
                <a:latin typeface="Calibri" pitchFamily="34" charset="0"/>
                <a:ea typeface="Calibri" pitchFamily="34" charset="-122"/>
                <a:cs typeface="Calibri" pitchFamily="34" charset="-120"/>
              </a:rPr>
              <a:t>Missing values checked (data.isnull().sum()) — none found.</a:t>
            </a:r>
            <a:endParaRPr lang="en-US" sz="1700" dirty="0"/>
          </a:p>
          <a:p>
            <a:pPr marL="342900" indent="-342900">
              <a:spcAft>
                <a:spcPts val="1000"/>
              </a:spcAft>
              <a:buSzPct val="100000"/>
              <a:buChar char="•"/>
            </a:pPr>
            <a:r>
              <a:rPr lang="en-US" sz="1700" dirty="0">
                <a:solidFill>
                  <a:srgbClr val="2B2B2B"/>
                </a:solidFill>
                <a:latin typeface="Calibri" pitchFamily="34" charset="0"/>
                <a:ea typeface="Calibri" pitchFamily="34" charset="-122"/>
                <a:cs typeface="Calibri" pitchFamily="34" charset="-120"/>
              </a:rPr>
              <a:t>pickup_datetime / dropoff_datetime converted from text to datetime.</a:t>
            </a:r>
            <a:endParaRPr lang="en-US" sz="1700" dirty="0"/>
          </a:p>
          <a:p>
            <a:pPr marL="342900" indent="-342900">
              <a:spcAft>
                <a:spcPts val="1000"/>
              </a:spcAft>
              <a:buSzPct val="100000"/>
              <a:buChar char="•"/>
            </a:pPr>
            <a:r>
              <a:rPr lang="en-US" sz="1700" dirty="0">
                <a:solidFill>
                  <a:srgbClr val="2B2B2B"/>
                </a:solidFill>
                <a:latin typeface="Calibri" pitchFamily="34" charset="0"/>
                <a:ea typeface="Calibri" pitchFamily="34" charset="-122"/>
                <a:cs typeface="Calibri" pitchFamily="34" charset="-120"/>
              </a:rPr>
              <a:t>store_and_fwd_flag converted to category type.</a:t>
            </a:r>
            <a:endParaRPr lang="en-US" sz="1700" dirty="0"/>
          </a:p>
          <a:p>
            <a:pPr marL="342900" indent="-342900">
              <a:spcAft>
                <a:spcPts val="1000"/>
              </a:spcAft>
              <a:buSzPct val="100000"/>
              <a:buChar char="•"/>
            </a:pPr>
            <a:r>
              <a:rPr lang="en-US" sz="1700" dirty="0">
                <a:solidFill>
                  <a:srgbClr val="2B2B2B"/>
                </a:solidFill>
                <a:latin typeface="Calibri" pitchFamily="34" charset="0"/>
                <a:ea typeface="Calibri" pitchFamily="34" charset="-122"/>
                <a:cs typeface="Calibri" pitchFamily="34" charset="-120"/>
              </a:rPr>
              <a:t>Target variable (trip_duration) explored using .describe() before any visualisation.</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Target Exploration — trip_duration</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sp>
        <p:nvSpPr>
          <p:cNvPr id="4" name="Text 2"/>
          <p:cNvSpPr txBox="1"/>
          <p:nvPr/>
        </p:nvSpPr>
        <p:spPr>
          <a:xfrm>
            <a:off x="548640" y="1234440"/>
            <a:ext cx="11064240" cy="5212080"/>
          </a:xfrm>
          <a:prstGeom prst="rect">
            <a:avLst/>
          </a:prstGeom>
          <a:noFill/>
          <a:ln/>
        </p:spPr>
        <p:txBody>
          <a:bodyPr wrap="square" lIns="0" tIns="0" rIns="0" bIns="0" rtlCol="0" anchor="t"/>
          <a:lstStyle/>
          <a:p>
            <a:pPr marL="342900" indent="-342900">
              <a:spcAft>
                <a:spcPts val="1000"/>
              </a:spcAft>
              <a:buSzPct val="100000"/>
              <a:buChar char="•"/>
            </a:pPr>
            <a:r>
              <a:rPr lang="en-US" sz="1650" dirty="0">
                <a:solidFill>
                  <a:srgbClr val="2B2B2B"/>
                </a:solidFill>
                <a:latin typeface="Calibri" pitchFamily="34" charset="0"/>
                <a:ea typeface="Calibri" pitchFamily="34" charset="-122"/>
                <a:cs typeface="Calibri" pitchFamily="34" charset="-120"/>
              </a:rPr>
              <a:t>1,458,644 trips, no missing values.</a:t>
            </a:r>
            <a:endParaRPr lang="en-US" sz="1650" dirty="0"/>
          </a:p>
          <a:p>
            <a:pPr marL="342900" indent="-342900">
              <a:spcAft>
                <a:spcPts val="1000"/>
              </a:spcAft>
              <a:buSzPct val="100000"/>
              <a:buChar char="•"/>
            </a:pPr>
            <a:r>
              <a:rPr lang="en-US" sz="1650" dirty="0">
                <a:solidFill>
                  <a:srgbClr val="2B2B2B"/>
                </a:solidFill>
                <a:latin typeface="Calibri" pitchFamily="34" charset="0"/>
                <a:ea typeface="Calibri" pitchFamily="34" charset="-122"/>
                <a:cs typeface="Calibri" pitchFamily="34" charset="-120"/>
              </a:rPr>
              <a:t>Mean = 959.5 seconds (~16 min), but Std Dev = 5,237 seconds — over 5x the mean.</a:t>
            </a:r>
            <a:endParaRPr lang="en-US" sz="1650" dirty="0"/>
          </a:p>
          <a:p>
            <a:pPr marL="342900" indent="-342900">
              <a:spcAft>
                <a:spcPts val="1000"/>
              </a:spcAft>
              <a:buSzPct val="100000"/>
              <a:buChar char="•"/>
            </a:pPr>
            <a:r>
              <a:rPr lang="en-US" sz="1650" dirty="0">
                <a:solidFill>
                  <a:srgbClr val="2B2B2B"/>
                </a:solidFill>
                <a:latin typeface="Calibri" pitchFamily="34" charset="0"/>
                <a:ea typeface="Calibri" pitchFamily="34" charset="-122"/>
                <a:cs typeface="Calibri" pitchFamily="34" charset="-120"/>
              </a:rPr>
              <a:t>Median = 662 seconds (~11 min) — a far more realistic “typical trip” than the mean.</a:t>
            </a:r>
            <a:endParaRPr lang="en-US" sz="1650" dirty="0"/>
          </a:p>
          <a:p>
            <a:pPr marL="342900" indent="-342900">
              <a:spcAft>
                <a:spcPts val="1000"/>
              </a:spcAft>
              <a:buSzPct val="100000"/>
              <a:buChar char="•"/>
            </a:pPr>
            <a:r>
              <a:rPr lang="en-US" sz="1650" dirty="0">
                <a:solidFill>
                  <a:srgbClr val="2B2B2B"/>
                </a:solidFill>
                <a:latin typeface="Calibri" pitchFamily="34" charset="0"/>
                <a:ea typeface="Calibri" pitchFamily="34" charset="-122"/>
                <a:cs typeface="Calibri" pitchFamily="34" charset="-120"/>
              </a:rPr>
              <a:t>Maximum = 3,526,282 seconds (40.8 days) — a clear data error / extreme outlier.</a:t>
            </a:r>
            <a:endParaRPr lang="en-US" sz="1650" dirty="0"/>
          </a:p>
          <a:p>
            <a:pPr marL="342900" indent="-342900">
              <a:spcAft>
                <a:spcPts val="1000"/>
              </a:spcAft>
              <a:buSzPct val="100000"/>
              <a:buChar char="•"/>
            </a:pPr>
            <a:r>
              <a:rPr lang="en-US" sz="1650" dirty="0">
                <a:solidFill>
                  <a:srgbClr val="2B2B2B"/>
                </a:solidFill>
                <a:latin typeface="Calibri" pitchFamily="34" charset="0"/>
                <a:ea typeface="Calibri" pitchFamily="34" charset="-122"/>
                <a:cs typeface="Calibri" pitchFamily="34" charset="-120"/>
              </a:rPr>
              <a:t>Mean &gt; Median confirms a right-skewed distribution (a long tail of high values).</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Log Transform of trip_duration</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pic>
        <p:nvPicPr>
          <p:cNvPr id="4" name="Image 0" descr="/home/claude/imgs3/raw_dist.png">    </p:cNvPr>
          <p:cNvPicPr>
            <a:picLocks noChangeAspect="1"/>
          </p:cNvPicPr>
          <p:nvPr/>
        </p:nvPicPr>
        <p:blipFill>
          <a:blip r:embed="rId1"/>
          <a:srcRect l="0" r="0" t="0" b="0"/>
          <a:stretch/>
        </p:blipFill>
        <p:spPr>
          <a:xfrm>
            <a:off x="548640" y="1371600"/>
            <a:ext cx="5394960" cy="4023360"/>
          </a:xfrm>
          <a:prstGeom prst="rect">
            <a:avLst/>
          </a:prstGeom>
        </p:spPr>
      </p:pic>
      <p:pic>
        <p:nvPicPr>
          <p:cNvPr id="5" name="Image 1" descr="/home/claude/imgs3/log_dist.png">    </p:cNvPr>
          <p:cNvPicPr>
            <a:picLocks noChangeAspect="1"/>
          </p:cNvPicPr>
          <p:nvPr/>
        </p:nvPicPr>
        <p:blipFill>
          <a:blip r:embed="rId2"/>
          <a:srcRect l="0" r="0" t="0" b="0"/>
          <a:stretch/>
        </p:blipFill>
        <p:spPr>
          <a:xfrm>
            <a:off x="6217920" y="1371600"/>
            <a:ext cx="5394960" cy="4023360"/>
          </a:xfrm>
          <a:prstGeom prst="rect">
            <a:avLst/>
          </a:prstGeom>
        </p:spPr>
      </p:pic>
      <p:sp>
        <p:nvSpPr>
          <p:cNvPr id="6" name="Text 2"/>
          <p:cNvSpPr txBox="1"/>
          <p:nvPr/>
        </p:nvSpPr>
        <p:spPr>
          <a:xfrm>
            <a:off x="548640" y="5486400"/>
            <a:ext cx="5394960" cy="822960"/>
          </a:xfrm>
          <a:prstGeom prst="rect">
            <a:avLst/>
          </a:prstGeom>
          <a:noFill/>
          <a:ln/>
        </p:spPr>
        <p:txBody>
          <a:bodyPr wrap="square" lIns="0" tIns="0" rIns="0" bIns="0" rtlCol="0" anchor="ctr"/>
          <a:lstStyle/>
          <a:p>
            <a:pPr indent="0" marL="0">
              <a:buNone/>
            </a:pPr>
            <a:r>
              <a:rPr lang="en-US" sz="1250" dirty="0">
                <a:solidFill>
                  <a:srgbClr val="5A5A5A"/>
                </a:solidFill>
                <a:latin typeface="Calibri" pitchFamily="34" charset="0"/>
                <a:ea typeface="Calibri" pitchFamily="34" charset="-122"/>
                <a:cs typeface="Calibri" pitchFamily="34" charset="-120"/>
              </a:rPr>
              <a:t>Before: raw trip_duration is heavily right-skewed by extreme outliers.</a:t>
            </a:r>
            <a:endParaRPr lang="en-US" sz="1250" dirty="0"/>
          </a:p>
        </p:txBody>
      </p:sp>
      <p:sp>
        <p:nvSpPr>
          <p:cNvPr id="7" name="Text 3"/>
          <p:cNvSpPr txBox="1"/>
          <p:nvPr/>
        </p:nvSpPr>
        <p:spPr>
          <a:xfrm>
            <a:off x="6217920" y="5486400"/>
            <a:ext cx="5394960" cy="822960"/>
          </a:xfrm>
          <a:prstGeom prst="rect">
            <a:avLst/>
          </a:prstGeom>
          <a:noFill/>
          <a:ln/>
        </p:spPr>
        <p:txBody>
          <a:bodyPr wrap="square" lIns="0" tIns="0" rIns="0" bIns="0" rtlCol="0" anchor="ctr"/>
          <a:lstStyle/>
          <a:p>
            <a:pPr indent="0" marL="0">
              <a:buNone/>
            </a:pPr>
            <a:r>
              <a:rPr lang="en-US" sz="1250" dirty="0">
                <a:solidFill>
                  <a:srgbClr val="5A5A5A"/>
                </a:solidFill>
                <a:latin typeface="Calibri" pitchFamily="34" charset="0"/>
                <a:ea typeface="Calibri" pitchFamily="34" charset="-122"/>
                <a:cs typeface="Calibri" pitchFamily="34" charset="-120"/>
              </a:rPr>
              <a:t>After: log1p(trip_duration) is far closer to a normal, bell-shaped distribution.</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Univariate — Passenger Count</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pic>
        <p:nvPicPr>
          <p:cNvPr id="4" name="Image 0" descr="/home/claude/imgs3/passenger_count.png">    </p:cNvPr>
          <p:cNvPicPr>
            <a:picLocks noChangeAspect="1"/>
          </p:cNvPicPr>
          <p:nvPr/>
        </p:nvPicPr>
        <p:blipFill>
          <a:blip r:embed="rId1"/>
          <a:srcRect l="0" r="0" t="0" b="0"/>
          <a:stretch/>
        </p:blipFill>
        <p:spPr>
          <a:xfrm>
            <a:off x="548640" y="1280160"/>
            <a:ext cx="5852160" cy="3628339"/>
          </a:xfrm>
          <a:prstGeom prst="rect">
            <a:avLst/>
          </a:prstGeom>
        </p:spPr>
      </p:pic>
      <p:sp>
        <p:nvSpPr>
          <p:cNvPr id="5" name="Text 2"/>
          <p:cNvSpPr txBox="1"/>
          <p:nvPr/>
        </p:nvSpPr>
        <p:spPr>
          <a:xfrm>
            <a:off x="6720840" y="1280160"/>
            <a:ext cx="4892040" cy="512064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2B2B2B"/>
                </a:solidFill>
                <a:latin typeface="Calibri" pitchFamily="34" charset="0"/>
                <a:ea typeface="Calibri" pitchFamily="34" charset="-122"/>
                <a:cs typeface="Calibri" pitchFamily="34" charset="-120"/>
              </a:rPr>
              <a:t>Over 70% of trips (1,033,540) carry just 1 passenger — solo rides dominate.</a:t>
            </a:r>
            <a:endParaRPr lang="en-US" sz="1350" dirty="0"/>
          </a:p>
          <a:p>
            <a:pPr marL="342900" indent="-342900">
              <a:spcAft>
                <a:spcPts val="800"/>
              </a:spcAft>
              <a:buSzPct val="100000"/>
              <a:buChar char="•"/>
            </a:pPr>
            <a:r>
              <a:rPr lang="en-US" sz="1350" dirty="0">
                <a:solidFill>
                  <a:srgbClr val="2B2B2B"/>
                </a:solidFill>
                <a:latin typeface="Calibri" pitchFamily="34" charset="0"/>
                <a:ea typeface="Calibri" pitchFamily="34" charset="-122"/>
                <a:cs typeface="Calibri" pitchFamily="34" charset="-120"/>
              </a:rPr>
              <a:t>2 passengers is next most common (210,318 trips); numbers drop off steadily after that.</a:t>
            </a:r>
            <a:endParaRPr lang="en-US" sz="1350" dirty="0"/>
          </a:p>
          <a:p>
            <a:pPr marL="342900" indent="-342900">
              <a:spcAft>
                <a:spcPts val="800"/>
              </a:spcAft>
              <a:buSzPct val="100000"/>
              <a:buChar char="•"/>
            </a:pPr>
            <a:r>
              <a:rPr lang="en-US" sz="1350" dirty="0">
                <a:solidFill>
                  <a:srgbClr val="2B2B2B"/>
                </a:solidFill>
                <a:latin typeface="Calibri" pitchFamily="34" charset="0"/>
                <a:ea typeface="Calibri" pitchFamily="34" charset="-122"/>
                <a:cs typeface="Calibri" pitchFamily="34" charset="-120"/>
              </a:rPr>
              <a:t>0 passengers (60 trips): a confirmed data error — a taxi cannot legally dispatch empty.</a:t>
            </a:r>
            <a:endParaRPr lang="en-US" sz="1350" dirty="0"/>
          </a:p>
          <a:p>
            <a:pPr marL="342900" indent="-342900">
              <a:spcAft>
                <a:spcPts val="800"/>
              </a:spcAft>
              <a:buSzPct val="100000"/>
              <a:buChar char="•"/>
            </a:pPr>
            <a:r>
              <a:rPr lang="en-US" sz="1350" dirty="0">
                <a:solidFill>
                  <a:srgbClr val="2B2B2B"/>
                </a:solidFill>
                <a:latin typeface="Calibri" pitchFamily="34" charset="0"/>
                <a:ea typeface="Calibri" pitchFamily="34" charset="-122"/>
                <a:cs typeface="Calibri" pitchFamily="34" charset="-120"/>
              </a:rPr>
              <a:t>5–6 passengers: a grey area — could be larger accessible vehicles or errors.</a:t>
            </a:r>
            <a:endParaRPr lang="en-US" sz="1350" dirty="0"/>
          </a:p>
          <a:p>
            <a:pPr marL="342900" indent="-342900">
              <a:spcAft>
                <a:spcPts val="800"/>
              </a:spcAft>
              <a:buSzPct val="100000"/>
              <a:buChar char="•"/>
            </a:pPr>
            <a:r>
              <a:rPr lang="en-US" sz="1350" dirty="0">
                <a:solidFill>
                  <a:srgbClr val="2B2B2B"/>
                </a:solidFill>
                <a:latin typeface="Calibri" pitchFamily="34" charset="0"/>
                <a:ea typeface="Calibri" pitchFamily="34" charset="-122"/>
                <a:cs typeface="Calibri" pitchFamily="34" charset="-120"/>
              </a:rPr>
              <a:t>7–9 passengers (1–3 trips each): too rare to represent a real pattern.</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Univariate — Vendor ID</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pic>
        <p:nvPicPr>
          <p:cNvPr id="4" name="Image 0" descr="/home/claude/imgs3/vendor_count.png">    </p:cNvPr>
          <p:cNvPicPr>
            <a:picLocks noChangeAspect="1"/>
          </p:cNvPicPr>
          <p:nvPr/>
        </p:nvPicPr>
        <p:blipFill>
          <a:blip r:embed="rId1"/>
          <a:srcRect l="0" r="0" t="0" b="0"/>
          <a:stretch/>
        </p:blipFill>
        <p:spPr>
          <a:xfrm>
            <a:off x="548640" y="1280160"/>
            <a:ext cx="5852160" cy="3628339"/>
          </a:xfrm>
          <a:prstGeom prst="rect">
            <a:avLst/>
          </a:prstGeom>
        </p:spPr>
      </p:pic>
      <p:sp>
        <p:nvSpPr>
          <p:cNvPr id="5" name="Text 2"/>
          <p:cNvSpPr txBox="1"/>
          <p:nvPr/>
        </p:nvSpPr>
        <p:spPr>
          <a:xfrm>
            <a:off x="6720840" y="1280160"/>
            <a:ext cx="4892040" cy="512064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2B2B2B"/>
                </a:solidFill>
                <a:latin typeface="Calibri" pitchFamily="34" charset="0"/>
                <a:ea typeface="Calibri" pitchFamily="34" charset="-122"/>
                <a:cs typeface="Calibri" pitchFamily="34" charset="-120"/>
              </a:rPr>
              <a:t>Vendor 1: 678,342 trips (46.5%).</a:t>
            </a:r>
            <a:endParaRPr lang="en-US" sz="1350" dirty="0"/>
          </a:p>
          <a:p>
            <a:pPr marL="342900" indent="-342900">
              <a:spcAft>
                <a:spcPts val="800"/>
              </a:spcAft>
              <a:buSzPct val="100000"/>
              <a:buChar char="•"/>
            </a:pPr>
            <a:r>
              <a:rPr lang="en-US" sz="1350" dirty="0">
                <a:solidFill>
                  <a:srgbClr val="2B2B2B"/>
                </a:solidFill>
                <a:latin typeface="Calibri" pitchFamily="34" charset="0"/>
                <a:ea typeface="Calibri" pitchFamily="34" charset="-122"/>
                <a:cs typeface="Calibri" pitchFamily="34" charset="-120"/>
              </a:rPr>
              <a:t>Vendor 2: 780,302 trips (53.5%).</a:t>
            </a:r>
            <a:endParaRPr lang="en-US" sz="1350" dirty="0"/>
          </a:p>
          <a:p>
            <a:pPr marL="342900" indent="-342900">
              <a:spcAft>
                <a:spcPts val="800"/>
              </a:spcAft>
              <a:buSzPct val="100000"/>
              <a:buChar char="•"/>
            </a:pPr>
            <a:r>
              <a:rPr lang="en-US" sz="1350" dirty="0">
                <a:solidFill>
                  <a:srgbClr val="2B2B2B"/>
                </a:solidFill>
                <a:latin typeface="Calibri" pitchFamily="34" charset="0"/>
                <a:ea typeface="Calibri" pitchFamily="34" charset="-122"/>
                <a:cs typeface="Calibri" pitchFamily="34" charset="-120"/>
              </a:rPr>
              <a:t>The split is fairly balanced — Vendor 2 handles roughly 100,000 more trips, but not an extreme imbalance.</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Univariate — Store &amp; Forward Flag</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pic>
        <p:nvPicPr>
          <p:cNvPr id="4" name="Image 0" descr="/home/claude/imgs3/storefwd.png">    </p:cNvPr>
          <p:cNvPicPr>
            <a:picLocks noChangeAspect="1"/>
          </p:cNvPicPr>
          <p:nvPr/>
        </p:nvPicPr>
        <p:blipFill>
          <a:blip r:embed="rId1"/>
          <a:srcRect l="0" r="0" t="0" b="0"/>
          <a:stretch/>
        </p:blipFill>
        <p:spPr>
          <a:xfrm>
            <a:off x="548640" y="1280160"/>
            <a:ext cx="5852160" cy="3628339"/>
          </a:xfrm>
          <a:prstGeom prst="rect">
            <a:avLst/>
          </a:prstGeom>
        </p:spPr>
      </p:pic>
      <p:sp>
        <p:nvSpPr>
          <p:cNvPr id="5" name="Text 2"/>
          <p:cNvSpPr txBox="1"/>
          <p:nvPr/>
        </p:nvSpPr>
        <p:spPr>
          <a:xfrm>
            <a:off x="6720840" y="1280160"/>
            <a:ext cx="4892040" cy="51206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99.45% of trips (1,450,599) have flag = 0 — data sent to server immediately, no connectivity issue.</a:t>
            </a:r>
            <a:endParaRPr lang="en-US" sz="1300" dirty="0"/>
          </a:p>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Only 0.55% (8,045 trips) have flag = 1 — data was stored and forwarded later; the variable is highly imbalanced.</a:t>
            </a:r>
            <a:endParaRPr lang="en-US" sz="1300" dirty="0"/>
          </a:p>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This only examines frequency, not trip_duration by group — so no hypothesis is supported or rejected from this analysis.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Univariate — Pickups by Weekday</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pic>
        <p:nvPicPr>
          <p:cNvPr id="4" name="Image 0" descr="/home/claude/imgs3/weekday_pickups.png">    </p:cNvPr>
          <p:cNvPicPr>
            <a:picLocks noChangeAspect="1"/>
          </p:cNvPicPr>
          <p:nvPr/>
        </p:nvPicPr>
        <p:blipFill>
          <a:blip r:embed="rId1"/>
          <a:srcRect l="0" r="0" t="0" b="0"/>
          <a:stretch/>
        </p:blipFill>
        <p:spPr>
          <a:xfrm>
            <a:off x="548640" y="1280160"/>
            <a:ext cx="5852160" cy="3628339"/>
          </a:xfrm>
          <a:prstGeom prst="rect">
            <a:avLst/>
          </a:prstGeom>
        </p:spPr>
      </p:pic>
      <p:sp>
        <p:nvSpPr>
          <p:cNvPr id="5" name="Text 2"/>
          <p:cNvSpPr txBox="1"/>
          <p:nvPr/>
        </p:nvSpPr>
        <p:spPr>
          <a:xfrm>
            <a:off x="6720840" y="1280160"/>
            <a:ext cx="4892040" cy="512064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2B2B2B"/>
                </a:solidFill>
                <a:latin typeface="Calibri" pitchFamily="34" charset="0"/>
                <a:ea typeface="Calibri" pitchFamily="34" charset="-122"/>
                <a:cs typeface="Calibri" pitchFamily="34" charset="-120"/>
              </a:rPr>
              <a:t>Monday has the fewest pickups (187,418), rising through Tuesday–Thursday, and reaching the highest level on Friday (223,533).</a:t>
            </a:r>
            <a:endParaRPr lang="en-US" sz="1350" dirty="0"/>
          </a:p>
          <a:p>
            <a:pPr marL="342900" indent="-342900">
              <a:spcAft>
                <a:spcPts val="800"/>
              </a:spcAft>
              <a:buSzPct val="100000"/>
              <a:buChar char="•"/>
            </a:pPr>
            <a:r>
              <a:rPr lang="en-US" sz="1350" dirty="0">
                <a:solidFill>
                  <a:srgbClr val="2B2B2B"/>
                </a:solidFill>
                <a:latin typeface="Calibri" pitchFamily="34" charset="0"/>
                <a:ea typeface="Calibri" pitchFamily="34" charset="-122"/>
                <a:cs typeface="Calibri" pitchFamily="34" charset="-120"/>
              </a:rPr>
              <a:t>Saturday remains almost as high (220,868), before decreasing on Sunday (195,366).</a:t>
            </a:r>
            <a:endParaRPr lang="en-US" sz="1350" dirty="0"/>
          </a:p>
          <a:p>
            <a:pPr marL="342900" indent="-342900">
              <a:spcAft>
                <a:spcPts val="800"/>
              </a:spcAft>
              <a:buSzPct val="100000"/>
              <a:buChar char="•"/>
            </a:pPr>
            <a:r>
              <a:rPr lang="en-US" sz="1350" dirty="0">
                <a:solidFill>
                  <a:srgbClr val="2B2B2B"/>
                </a:solidFill>
                <a:latin typeface="Calibri" pitchFamily="34" charset="0"/>
                <a:ea typeface="Calibri" pitchFamily="34" charset="-122"/>
                <a:cs typeface="Calibri" pitchFamily="34" charset="-120"/>
              </a:rPr>
              <a:t>This measures pickup frequency only, not trip duration — so it does not confirm or reject H3 yet; that relationship is tested in the bivariate analysis.</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Univariate — Pickups by Hour</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pic>
        <p:nvPicPr>
          <p:cNvPr id="4" name="Image 0" descr="/home/claude/imgs3/hour_pickups.png">    </p:cNvPr>
          <p:cNvPicPr>
            <a:picLocks noChangeAspect="1"/>
          </p:cNvPicPr>
          <p:nvPr/>
        </p:nvPicPr>
        <p:blipFill>
          <a:blip r:embed="rId1"/>
          <a:srcRect l="0" r="0" t="0" b="0"/>
          <a:stretch/>
        </p:blipFill>
        <p:spPr>
          <a:xfrm>
            <a:off x="548640" y="1280160"/>
            <a:ext cx="5852160" cy="3628339"/>
          </a:xfrm>
          <a:prstGeom prst="rect">
            <a:avLst/>
          </a:prstGeom>
        </p:spPr>
      </p:pic>
      <p:sp>
        <p:nvSpPr>
          <p:cNvPr id="5" name="Text 2"/>
          <p:cNvSpPr txBox="1"/>
          <p:nvPr/>
        </p:nvSpPr>
        <p:spPr>
          <a:xfrm>
            <a:off x="6720840" y="1280160"/>
            <a:ext cx="4892040" cy="51206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Pickups are lowest in the early morning (2am–5am), then increase throughout the day, reaching their highest levels in the evening (18:00–21:00).</a:t>
            </a:r>
            <a:endParaRPr lang="en-US" sz="1300" dirty="0"/>
          </a:p>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Taxi demand varies considerably by time of day — substantially more trips occur during the daytime/evening than in the early morning.</a:t>
            </a:r>
            <a:endParaRPr lang="en-US" sz="1300" dirty="0"/>
          </a:p>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This measures pickup frequency only, not trip duration — so it does not confirm or reject H2 yet; that relationship is tested in the bivariate analysis.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Pickup / Dropoff Coordinates</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pic>
        <p:nvPicPr>
          <p:cNvPr id="4" name="Image 0" descr="/home/claude/imgs3/latlong.png">    </p:cNvPr>
          <p:cNvPicPr>
            <a:picLocks noChangeAspect="1"/>
          </p:cNvPicPr>
          <p:nvPr/>
        </p:nvPicPr>
        <p:blipFill>
          <a:blip r:embed="rId1"/>
          <a:srcRect l="0" r="0" t="0" b="0"/>
          <a:stretch/>
        </p:blipFill>
        <p:spPr>
          <a:xfrm>
            <a:off x="548640" y="1280160"/>
            <a:ext cx="5852160" cy="3628339"/>
          </a:xfrm>
          <a:prstGeom prst="rect">
            <a:avLst/>
          </a:prstGeom>
        </p:spPr>
      </p:pic>
      <p:sp>
        <p:nvSpPr>
          <p:cNvPr id="5" name="Text 2"/>
          <p:cNvSpPr txBox="1"/>
          <p:nvPr/>
        </p:nvSpPr>
        <p:spPr>
          <a:xfrm>
            <a:off x="6720840" y="1280160"/>
            <a:ext cx="4892040" cy="512064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2B2B2B"/>
                </a:solidFill>
                <a:latin typeface="Calibri" pitchFamily="34" charset="0"/>
                <a:ea typeface="Calibri" pitchFamily="34" charset="-122"/>
                <a:cs typeface="Calibri" pitchFamily="34" charset="-120"/>
              </a:rPr>
              <a:t>All four coordinate columns cluster tightly together — mean and median within 0.01 of each other.</a:t>
            </a:r>
            <a:endParaRPr lang="en-US" sz="1350" dirty="0"/>
          </a:p>
          <a:p>
            <a:pPr marL="342900" indent="-342900">
              <a:spcAft>
                <a:spcPts val="800"/>
              </a:spcAft>
              <a:buSzPct val="100000"/>
              <a:buChar char="•"/>
            </a:pPr>
            <a:r>
              <a:rPr lang="en-US" sz="1350" dirty="0">
                <a:solidFill>
                  <a:srgbClr val="2B2B2B"/>
                </a:solidFill>
                <a:latin typeface="Calibri" pitchFamily="34" charset="0"/>
                <a:ea typeface="Calibri" pitchFamily="34" charset="-122"/>
                <a:cs typeface="Calibri" pitchFamily="34" charset="-120"/>
              </a:rPr>
              <a:t>Unlike trip_duration, these distributions are close to symmetrical.</a:t>
            </a:r>
            <a:endParaRPr lang="en-US" sz="1350" dirty="0"/>
          </a:p>
          <a:p>
            <a:pPr marL="342900" indent="-342900">
              <a:spcAft>
                <a:spcPts val="800"/>
              </a:spcAft>
              <a:buSzPct val="100000"/>
              <a:buChar char="•"/>
            </a:pPr>
            <a:r>
              <a:rPr lang="en-US" sz="1350" dirty="0">
                <a:solidFill>
                  <a:srgbClr val="2B2B2B"/>
                </a:solidFill>
                <a:latin typeface="Calibri" pitchFamily="34" charset="0"/>
                <a:ea typeface="Calibri" pitchFamily="34" charset="-122"/>
                <a:cs typeface="Calibri" pitchFamily="34" charset="-120"/>
              </a:rPr>
              <a:t>Raw min/max values reveal a small number of GPS-logging errors (coordinates placing a trip outside the US) — excluded from the chart for readability, kept in the dataset for now.</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Bivariate — Duration vs Day of Week</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pic>
        <p:nvPicPr>
          <p:cNvPr id="4" name="Image 0" descr="/home/claude/imgs3/duration_weekday.png">    </p:cNvPr>
          <p:cNvPicPr>
            <a:picLocks noChangeAspect="1"/>
          </p:cNvPicPr>
          <p:nvPr/>
        </p:nvPicPr>
        <p:blipFill>
          <a:blip r:embed="rId1"/>
          <a:srcRect l="0" r="0" t="0" b="0"/>
          <a:stretch/>
        </p:blipFill>
        <p:spPr>
          <a:xfrm>
            <a:off x="548640" y="1280160"/>
            <a:ext cx="5852160" cy="3628339"/>
          </a:xfrm>
          <a:prstGeom prst="rect">
            <a:avLst/>
          </a:prstGeom>
        </p:spPr>
      </p:pic>
      <p:sp>
        <p:nvSpPr>
          <p:cNvPr id="5" name="Text 2"/>
          <p:cNvSpPr txBox="1"/>
          <p:nvPr/>
        </p:nvSpPr>
        <p:spPr>
          <a:xfrm>
            <a:off x="6720840" y="1280160"/>
            <a:ext cx="4892040" cy="5120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B2B2B"/>
                </a:solidFill>
                <a:latin typeface="Calibri" pitchFamily="34" charset="0"/>
                <a:ea typeface="Calibri" pitchFamily="34" charset="-122"/>
                <a:cs typeface="Calibri" pitchFamily="34" charset="-120"/>
              </a:rPr>
              <a:t>Lowest average duration: Monday (898s) and Sunday (902s).</a:t>
            </a:r>
            <a:endParaRPr lang="en-US" sz="1400" dirty="0"/>
          </a:p>
          <a:p>
            <a:pPr marL="342900" indent="-342900">
              <a:spcAft>
                <a:spcPts val="800"/>
              </a:spcAft>
              <a:buSzPct val="100000"/>
              <a:buChar char="•"/>
            </a:pPr>
            <a:r>
              <a:rPr lang="en-US" sz="1400" dirty="0">
                <a:solidFill>
                  <a:srgbClr val="2B2B2B"/>
                </a:solidFill>
                <a:latin typeface="Calibri" pitchFamily="34" charset="0"/>
                <a:ea typeface="Calibri" pitchFamily="34" charset="-122"/>
                <a:cs typeface="Calibri" pitchFamily="34" charset="-120"/>
              </a:rPr>
              <a:t>Highest: midweek, peaking Thursday (1,007s).</a:t>
            </a:r>
            <a:endParaRPr lang="en-US" sz="1400" dirty="0"/>
          </a:p>
          <a:p>
            <a:pPr marL="342900" indent="-342900">
              <a:spcAft>
                <a:spcPts val="800"/>
              </a:spcAft>
              <a:buSzPct val="100000"/>
              <a:buChar char="•"/>
            </a:pPr>
            <a:r>
              <a:rPr lang="en-US" sz="1400" dirty="0">
                <a:solidFill>
                  <a:srgbClr val="2B2B2B"/>
                </a:solidFill>
                <a:latin typeface="Calibri" pitchFamily="34" charset="0"/>
                <a:ea typeface="Calibri" pitchFamily="34" charset="-122"/>
                <a:cs typeface="Calibri" pitchFamily="34" charset="-120"/>
              </a:rPr>
              <a:t>Supports H3 — weekday trips genuinely take longer than weekend trips, likely due to commuter traffic.</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Bivariate — Duration vs Hour of Day</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pic>
        <p:nvPicPr>
          <p:cNvPr id="4" name="Image 0" descr="/home/claude/imgs3/duration_hour.png">    </p:cNvPr>
          <p:cNvPicPr>
            <a:picLocks noChangeAspect="1"/>
          </p:cNvPicPr>
          <p:nvPr/>
        </p:nvPicPr>
        <p:blipFill>
          <a:blip r:embed="rId1"/>
          <a:srcRect l="0" r="0" t="0" b="0"/>
          <a:stretch/>
        </p:blipFill>
        <p:spPr>
          <a:xfrm>
            <a:off x="548640" y="1280160"/>
            <a:ext cx="5852160" cy="3628339"/>
          </a:xfrm>
          <a:prstGeom prst="rect">
            <a:avLst/>
          </a:prstGeom>
        </p:spPr>
      </p:pic>
      <p:sp>
        <p:nvSpPr>
          <p:cNvPr id="5" name="Text 2"/>
          <p:cNvSpPr txBox="1"/>
          <p:nvPr/>
        </p:nvSpPr>
        <p:spPr>
          <a:xfrm>
            <a:off x="6720840" y="1280160"/>
            <a:ext cx="4892040" cy="512064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2B2B2B"/>
                </a:solidFill>
                <a:latin typeface="Calibri" pitchFamily="34" charset="0"/>
                <a:ea typeface="Calibri" pitchFamily="34" charset="-122"/>
                <a:cs typeface="Calibri" pitchFamily="34" charset="-120"/>
              </a:rPr>
              <a:t>Lowest average duration: early morning, 6am (797s).</a:t>
            </a:r>
            <a:endParaRPr lang="en-US" sz="1350" dirty="0"/>
          </a:p>
          <a:p>
            <a:pPr marL="342900" indent="-342900">
              <a:spcAft>
                <a:spcPts val="800"/>
              </a:spcAft>
              <a:buSzPct val="100000"/>
              <a:buChar char="•"/>
            </a:pPr>
            <a:r>
              <a:rPr lang="en-US" sz="1350" dirty="0">
                <a:solidFill>
                  <a:srgbClr val="2B2B2B"/>
                </a:solidFill>
                <a:latin typeface="Calibri" pitchFamily="34" charset="0"/>
                <a:ea typeface="Calibri" pitchFamily="34" charset="-122"/>
                <a:cs typeface="Calibri" pitchFamily="34" charset="-120"/>
              </a:rPr>
              <a:t>Highest: mid-afternoon, 3pm (1,119s), with a smaller secondary peak around 10pm (1,024s).</a:t>
            </a:r>
            <a:endParaRPr lang="en-US" sz="1350" dirty="0"/>
          </a:p>
          <a:p>
            <a:pPr marL="342900" indent="-342900">
              <a:spcAft>
                <a:spcPts val="800"/>
              </a:spcAft>
              <a:buSzPct val="100000"/>
              <a:buChar char="•"/>
            </a:pPr>
            <a:r>
              <a:rPr lang="en-US" sz="1350" dirty="0">
                <a:solidFill>
                  <a:srgbClr val="2B2B2B"/>
                </a:solidFill>
                <a:latin typeface="Calibri" pitchFamily="34" charset="0"/>
                <a:ea typeface="Calibri" pitchFamily="34" charset="-122"/>
                <a:cs typeface="Calibri" pitchFamily="34" charset="-120"/>
              </a:rPr>
              <a:t>Partially supports H2 — duration does vary meaningfully by hour, but the true peak is 2–4pm, not the classic 7–9am / 4–7pm rush-hour windows named in the hypothesis.</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Vendor ID vs Trip Duration</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pic>
        <p:nvPicPr>
          <p:cNvPr id="4" name="Image 0" descr="/home/claude/imgs3/duration_vendor.png">    </p:cNvPr>
          <p:cNvPicPr>
            <a:picLocks noChangeAspect="1"/>
          </p:cNvPicPr>
          <p:nvPr/>
        </p:nvPicPr>
        <p:blipFill>
          <a:blip r:embed="rId1"/>
          <a:srcRect l="0" r="0" t="0" b="0"/>
          <a:stretch/>
        </p:blipFill>
        <p:spPr>
          <a:xfrm>
            <a:off x="548640" y="1280160"/>
            <a:ext cx="5852160" cy="3628339"/>
          </a:xfrm>
          <a:prstGeom prst="rect">
            <a:avLst/>
          </a:prstGeom>
        </p:spPr>
      </p:pic>
      <p:sp>
        <p:nvSpPr>
          <p:cNvPr id="5" name="Text 2"/>
          <p:cNvSpPr txBox="1"/>
          <p:nvPr/>
        </p:nvSpPr>
        <p:spPr>
          <a:xfrm>
            <a:off x="6720840" y="1280160"/>
            <a:ext cx="4892040" cy="51206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Mean duration: Vendor 1 = 845.4s, Vendor 2 = 1,058.6s — a gap of 200+ seconds.</a:t>
            </a:r>
            <a:endParaRPr lang="en-US" sz="1300" dirty="0"/>
          </a:p>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Median duration: Vendor 1 = 658s, Vendor 2 = 666s — a gap of only 8 seconds.</a:t>
            </a:r>
            <a:endParaRPr lang="en-US" sz="1300" dirty="0"/>
          </a:p>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The mean-vs-median mismatch is the same warning sign seen earlier: a handful of extreme outliers in Vendor 2's data are pulling its average up. The median shows the two vendors are actually almost identical in typical duration.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Median Trip Duration — Vendor x Weekday</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pic>
        <p:nvPicPr>
          <p:cNvPr id="4" name="Image 0" descr="/home/claude/imgs3/median_vendor_weekday.png">    </p:cNvPr>
          <p:cNvPicPr>
            <a:picLocks noChangeAspect="1"/>
          </p:cNvPicPr>
          <p:nvPr/>
        </p:nvPicPr>
        <p:blipFill>
          <a:blip r:embed="rId1"/>
          <a:srcRect l="0" r="0" t="0" b="0"/>
          <a:stretch/>
        </p:blipFill>
        <p:spPr>
          <a:xfrm>
            <a:off x="548640" y="1280160"/>
            <a:ext cx="5852160" cy="3628339"/>
          </a:xfrm>
          <a:prstGeom prst="rect">
            <a:avLst/>
          </a:prstGeom>
        </p:spPr>
      </p:pic>
      <p:sp>
        <p:nvSpPr>
          <p:cNvPr id="5" name="Text 2"/>
          <p:cNvSpPr txBox="1"/>
          <p:nvPr/>
        </p:nvSpPr>
        <p:spPr>
          <a:xfrm>
            <a:off x="6720840" y="1280160"/>
            <a:ext cx="4892040" cy="512064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2B2B2B"/>
                </a:solidFill>
                <a:latin typeface="Calibri" pitchFamily="34" charset="0"/>
                <a:ea typeface="Calibri" pitchFamily="34" charset="-122"/>
                <a:cs typeface="Calibri" pitchFamily="34" charset="-120"/>
              </a:rPr>
              <a:t>Median duration: Vendor 1 = 658s, Vendor 2 = 666s overall — only an 8-second difference.</a:t>
            </a:r>
            <a:endParaRPr lang="en-US" sz="1350" dirty="0"/>
          </a:p>
          <a:p>
            <a:pPr marL="342900" indent="-342900">
              <a:spcAft>
                <a:spcPts val="800"/>
              </a:spcAft>
              <a:buSzPct val="100000"/>
              <a:buChar char="•"/>
            </a:pPr>
            <a:r>
              <a:rPr lang="en-US" sz="1350" dirty="0">
                <a:solidFill>
                  <a:srgbClr val="2B2B2B"/>
                </a:solidFill>
                <a:latin typeface="Calibri" pitchFamily="34" charset="0"/>
                <a:ea typeface="Calibri" pitchFamily="34" charset="-122"/>
                <a:cs typeface="Calibri" pitchFamily="34" charset="-120"/>
              </a:rPr>
              <a:t>Broken down by day, both vendors follow the exact same weekly pattern — peaking Thursday (701s / 717s), lowest on Sunday (599s / 605s).</a:t>
            </a:r>
            <a:endParaRPr lang="en-US" sz="1350" dirty="0"/>
          </a:p>
          <a:p>
            <a:pPr marL="342900" indent="-342900">
              <a:spcAft>
                <a:spcPts val="800"/>
              </a:spcAft>
              <a:buSzPct val="100000"/>
              <a:buChar char="•"/>
            </a:pPr>
            <a:r>
              <a:rPr lang="en-US" sz="1350" dirty="0">
                <a:solidFill>
                  <a:srgbClr val="2B2B2B"/>
                </a:solidFill>
                <a:latin typeface="Calibri" pitchFamily="34" charset="0"/>
                <a:ea typeface="Calibri" pitchFamily="34" charset="-122"/>
                <a:cs typeface="Calibri" pitchFamily="34" charset="-120"/>
              </a:rPr>
              <a:t>The two lines stay almost parallel and never cross — the small vendor gap is consistent and doesn't depend on the day.</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Passenger Count vs Trip Duration</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pic>
        <p:nvPicPr>
          <p:cNvPr id="4" name="Image 0" descr="/home/claude/imgs3/duration_passenger.png">    </p:cNvPr>
          <p:cNvPicPr>
            <a:picLocks noChangeAspect="1"/>
          </p:cNvPicPr>
          <p:nvPr/>
        </p:nvPicPr>
        <p:blipFill>
          <a:blip r:embed="rId1"/>
          <a:srcRect l="0" r="0" t="0" b="0"/>
          <a:stretch/>
        </p:blipFill>
        <p:spPr>
          <a:xfrm>
            <a:off x="548640" y="1280160"/>
            <a:ext cx="5852160" cy="3628339"/>
          </a:xfrm>
          <a:prstGeom prst="rect">
            <a:avLst/>
          </a:prstGeom>
        </p:spPr>
      </p:pic>
      <p:sp>
        <p:nvSpPr>
          <p:cNvPr id="5" name="Text 2"/>
          <p:cNvSpPr txBox="1"/>
          <p:nvPr/>
        </p:nvSpPr>
        <p:spPr>
          <a:xfrm>
            <a:off x="6720840" y="1280160"/>
            <a:ext cx="4892040" cy="51206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Average duration rises gradually from 1 passenger (930s) to 6 passengers (1,061s) — a mild, steady increase.</a:t>
            </a:r>
            <a:endParaRPr lang="en-US" sz="1300" dirty="0"/>
          </a:p>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Median duration (654–698s across 1–6 passengers) confirms a real but weak effect, matching H4.</a:t>
            </a:r>
            <a:endParaRPr lang="en-US" sz="1300" dirty="0"/>
          </a:p>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0 passengers (mean 1,718s, median 20.5s) and 7–9 passengers (1–3 trips each): extreme mismatches confirm these are broken data or too small a sample to trust.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Pickup Density — Heatmap (Folium)</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sp>
        <p:nvSpPr>
          <p:cNvPr id="4" name="Text 2"/>
          <p:cNvSpPr txBox="1"/>
          <p:nvPr/>
        </p:nvSpPr>
        <p:spPr>
          <a:xfrm>
            <a:off x="548640" y="1234440"/>
            <a:ext cx="11064240" cy="52120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An interactive folium heatmap was built on a 5,000-trip NYC-boundary sample.</a:t>
            </a:r>
            <a:endParaRPr lang="en-US" sz="16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Pickup density is heavily concentrated in Manhattan, with the brightest clustering around the island's core.</a:t>
            </a:r>
            <a:endParaRPr lang="en-US" sz="16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Matches the earlier lat/long finding of a tight, narrow coordinate peak.</a:t>
            </a:r>
            <a:endParaRPr lang="en-US" sz="16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Outer boroughs and airports show noticeably lighter, more scattered activity — NYC yellow-taxi demand is overwhelmingly an inner-city phenomenon.</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Correlation Heatmap (Raw Features)</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pic>
        <p:nvPicPr>
          <p:cNvPr id="4" name="Image 0" descr="/home/claude/imgs3/corr_heatmap.png">    </p:cNvPr>
          <p:cNvPicPr>
            <a:picLocks noChangeAspect="1"/>
          </p:cNvPicPr>
          <p:nvPr/>
        </p:nvPicPr>
        <p:blipFill>
          <a:blip r:embed="rId1"/>
          <a:srcRect l="0" r="0" t="0" b="0"/>
          <a:stretch/>
        </p:blipFill>
        <p:spPr>
          <a:xfrm>
            <a:off x="548640" y="1280160"/>
            <a:ext cx="5120640" cy="3174797"/>
          </a:xfrm>
          <a:prstGeom prst="rect">
            <a:avLst/>
          </a:prstGeom>
        </p:spPr>
      </p:pic>
      <p:sp>
        <p:nvSpPr>
          <p:cNvPr id="5" name="Text 2"/>
          <p:cNvSpPr txBox="1"/>
          <p:nvPr/>
        </p:nvSpPr>
        <p:spPr>
          <a:xfrm>
            <a:off x="5989320" y="1280160"/>
            <a:ext cx="5623560" cy="512064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B2B2B"/>
                </a:solidFill>
                <a:latin typeface="Calibri" pitchFamily="34" charset="0"/>
                <a:ea typeface="Calibri" pitchFamily="34" charset="-122"/>
                <a:cs typeface="Calibri" pitchFamily="34" charset="-120"/>
              </a:rPr>
              <a:t>Every raw feature shows an extremely weak correlation with trip_duration — the strongest is pickup_latitude at just -0.029.</a:t>
            </a:r>
            <a:endParaRPr lang="en-US" sz="1250" dirty="0"/>
          </a:p>
          <a:p>
            <a:pPr marL="342900" indent="-342900">
              <a:spcAft>
                <a:spcPts val="800"/>
              </a:spcAft>
              <a:buSzPct val="100000"/>
              <a:buChar char="•"/>
            </a:pPr>
            <a:r>
              <a:rPr lang="en-US" sz="1250" dirty="0">
                <a:solidFill>
                  <a:srgbClr val="2B2B2B"/>
                </a:solidFill>
                <a:latin typeface="Calibri" pitchFamily="34" charset="0"/>
                <a:ea typeface="Calibri" pitchFamily="34" charset="-122"/>
                <a:cs typeface="Calibri" pitchFamily="34" charset="-120"/>
              </a:rPr>
              <a:t>The one genuinely strong relationship in the matrix is pickup_longitude vs dropoff_longitude (0.784), and pickup_latitude vs dropoff_latitude (0.494) — trips mostly start and end in a similar area of the city.</a:t>
            </a:r>
            <a:endParaRPr lang="en-US" sz="1250" dirty="0"/>
          </a:p>
          <a:p>
            <a:pPr marL="342900" indent="-342900">
              <a:spcAft>
                <a:spcPts val="800"/>
              </a:spcAft>
              <a:buSzPct val="100000"/>
              <a:buChar char="•"/>
            </a:pPr>
            <a:r>
              <a:rPr lang="en-US" sz="1250" dirty="0">
                <a:solidFill>
                  <a:srgbClr val="2B2B2B"/>
                </a:solidFill>
                <a:latin typeface="Calibri" pitchFamily="34" charset="0"/>
                <a:ea typeface="Calibri" pitchFamily="34" charset="-122"/>
                <a:cs typeface="Calibri" pitchFamily="34" charset="-120"/>
              </a:rPr>
              <a:t>This supports the conclusion that distance (combining pickup and dropoff coordinates) will help predict trip duration — not any single raw column alone.</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Stage 4 — Hypothesis Status Summary</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sp>
        <p:nvSpPr>
          <p:cNvPr id="4" name="Text 2"/>
          <p:cNvSpPr txBox="1"/>
          <p:nvPr/>
        </p:nvSpPr>
        <p:spPr>
          <a:xfrm>
            <a:off x="548640" y="1234440"/>
            <a:ext cx="11064240" cy="5212080"/>
          </a:xfrm>
          <a:prstGeom prst="rect">
            <a:avLst/>
          </a:prstGeom>
          <a:noFill/>
          <a:ln/>
        </p:spPr>
        <p:txBody>
          <a:bodyPr wrap="square" lIns="0" tIns="0" rIns="0" bIns="0" rtlCol="0" anchor="t"/>
          <a:lstStyle/>
          <a:p>
            <a:pPr marL="342900" indent="-342900">
              <a:spcAft>
                <a:spcPts val="1000"/>
              </a:spcAft>
              <a:buSzPct val="100000"/>
              <a:buChar char="•"/>
            </a:pPr>
            <a:r>
              <a:rPr lang="en-US" sz="1550" dirty="0">
                <a:solidFill>
                  <a:srgbClr val="2B2B2B"/>
                </a:solidFill>
                <a:latin typeface="Calibri" pitchFamily="34" charset="0"/>
                <a:ea typeface="Calibri" pitchFamily="34" charset="-122"/>
                <a:cs typeface="Calibri" pitchFamily="34" charset="-120"/>
              </a:rPr>
              <a:t>H1 (distance) — to be confirmed via engineered distance feature in Stage 5.</a:t>
            </a:r>
            <a:endParaRPr lang="en-US" sz="1550" dirty="0"/>
          </a:p>
          <a:p>
            <a:pPr marL="342900" indent="-342900">
              <a:spcAft>
                <a:spcPts val="1000"/>
              </a:spcAft>
              <a:buSzPct val="100000"/>
              <a:buChar char="•"/>
            </a:pPr>
            <a:r>
              <a:rPr lang="en-US" sz="1550" dirty="0">
                <a:solidFill>
                  <a:srgbClr val="2B2B2B"/>
                </a:solidFill>
                <a:latin typeface="Calibri" pitchFamily="34" charset="0"/>
                <a:ea typeface="Calibri" pitchFamily="34" charset="-122"/>
                <a:cs typeface="Calibri" pitchFamily="34" charset="-120"/>
              </a:rPr>
              <a:t>H2 (rush hour) — partially supported; real peak is mid-afternoon, not classic rush hour.</a:t>
            </a:r>
            <a:endParaRPr lang="en-US" sz="1550" dirty="0"/>
          </a:p>
          <a:p>
            <a:pPr marL="342900" indent="-342900">
              <a:spcAft>
                <a:spcPts val="1000"/>
              </a:spcAft>
              <a:buSzPct val="100000"/>
              <a:buChar char="•"/>
            </a:pPr>
            <a:r>
              <a:rPr lang="en-US" sz="1550" dirty="0">
                <a:solidFill>
                  <a:srgbClr val="2B2B2B"/>
                </a:solidFill>
                <a:latin typeface="Calibri" pitchFamily="34" charset="0"/>
                <a:ea typeface="Calibri" pitchFamily="34" charset="-122"/>
                <a:cs typeface="Calibri" pitchFamily="34" charset="-120"/>
              </a:rPr>
              <a:t>H3 (weekday vs weekend) — supported, with demand/duration rising then falling across the week.</a:t>
            </a:r>
            <a:endParaRPr lang="en-US" sz="1550" dirty="0"/>
          </a:p>
          <a:p>
            <a:pPr marL="342900" indent="-342900">
              <a:spcAft>
                <a:spcPts val="1000"/>
              </a:spcAft>
              <a:buSzPct val="100000"/>
              <a:buChar char="•"/>
            </a:pPr>
            <a:r>
              <a:rPr lang="en-US" sz="1550" dirty="0">
                <a:solidFill>
                  <a:srgbClr val="2B2B2B"/>
                </a:solidFill>
                <a:latin typeface="Calibri" pitchFamily="34" charset="0"/>
                <a:ea typeface="Calibri" pitchFamily="34" charset="-122"/>
                <a:cs typeface="Calibri" pitchFamily="34" charset="-120"/>
              </a:rPr>
              <a:t>H4 (passenger count) — weak but real effect supported for 1–6 passengers.</a:t>
            </a:r>
            <a:endParaRPr lang="en-US" sz="1550" dirty="0"/>
          </a:p>
          <a:p>
            <a:pPr marL="342900" indent="-342900">
              <a:spcAft>
                <a:spcPts val="1000"/>
              </a:spcAft>
              <a:buSzPct val="100000"/>
              <a:buChar char="•"/>
            </a:pPr>
            <a:r>
              <a:rPr lang="en-US" sz="1550" dirty="0">
                <a:solidFill>
                  <a:srgbClr val="2B2B2B"/>
                </a:solidFill>
                <a:latin typeface="Calibri" pitchFamily="34" charset="0"/>
                <a:ea typeface="Calibri" pitchFamily="34" charset="-122"/>
                <a:cs typeface="Calibri" pitchFamily="34" charset="-120"/>
              </a:rPr>
              <a:t>H5 (vendor) — supported on the mean, but not on the median; outlier-driven.</a:t>
            </a:r>
            <a:endParaRPr lang="en-US" sz="1550" dirty="0"/>
          </a:p>
          <a:p>
            <a:pPr marL="342900" indent="-342900">
              <a:spcAft>
                <a:spcPts val="1000"/>
              </a:spcAft>
              <a:buSzPct val="100000"/>
              <a:buChar char="•"/>
            </a:pPr>
            <a:r>
              <a:rPr lang="en-US" sz="1550" dirty="0">
                <a:solidFill>
                  <a:srgbClr val="2B2B2B"/>
                </a:solidFill>
                <a:latin typeface="Calibri" pitchFamily="34" charset="0"/>
                <a:ea typeface="Calibri" pitchFamily="34" charset="-122"/>
                <a:cs typeface="Calibri" pitchFamily="34" charset="-120"/>
              </a:rPr>
              <a:t>H6 (store &amp; forward flag) — not tested; sample too small (0.55%) to compare reliably.</a:t>
            </a:r>
            <a:endParaRPr lang="en-US" sz="15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Stage 5: Predictive Modelling — Preprocessing</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sp>
        <p:nvSpPr>
          <p:cNvPr id="4" name="Text 2"/>
          <p:cNvSpPr txBox="1"/>
          <p:nvPr/>
        </p:nvSpPr>
        <p:spPr>
          <a:xfrm>
            <a:off x="548640" y="1234440"/>
            <a:ext cx="11064240" cy="5212080"/>
          </a:xfrm>
          <a:prstGeom prst="rect">
            <a:avLst/>
          </a:prstGeom>
          <a:noFill/>
          <a:ln/>
        </p:spPr>
        <p:txBody>
          <a:bodyPr wrap="square" lIns="0" tIns="0" rIns="0" bIns="0" rtlCol="0" anchor="t"/>
          <a:lstStyle/>
          <a:p>
            <a:pPr marL="342900" indent="-342900">
              <a:spcAft>
                <a:spcPts val="1000"/>
              </a:spcAft>
              <a:buSzPct val="100000"/>
              <a:buChar char="•"/>
            </a:pPr>
            <a:r>
              <a:rPr lang="en-US" sz="1650" dirty="0">
                <a:solidFill>
                  <a:srgbClr val="2B2B2B"/>
                </a:solidFill>
                <a:latin typeface="Calibri" pitchFamily="34" charset="0"/>
                <a:ea typeface="Calibri" pitchFamily="34" charset="-122"/>
                <a:cs typeface="Calibri" pitchFamily="34" charset="-120"/>
              </a:rPr>
              <a:t>Final missing-values check: none found. No imputation required.</a:t>
            </a:r>
            <a:endParaRPr lang="en-US" sz="1650" dirty="0"/>
          </a:p>
          <a:p>
            <a:pPr marL="342900" indent="-342900">
              <a:spcAft>
                <a:spcPts val="1000"/>
              </a:spcAft>
              <a:buSzPct val="100000"/>
              <a:buChar char="•"/>
            </a:pPr>
            <a:r>
              <a:rPr lang="en-US" sz="1650" dirty="0">
                <a:solidFill>
                  <a:srgbClr val="2B2B2B"/>
                </a:solidFill>
                <a:latin typeface="Calibri" pitchFamily="34" charset="0"/>
                <a:ea typeface="Calibri" pitchFamily="34" charset="-122"/>
                <a:cs typeface="Calibri" pitchFamily="34" charset="-120"/>
              </a:rPr>
              <a:t>Duplicate rows checked (data.duplicated().sum()): 0 duplicates found.</a:t>
            </a:r>
            <a:endParaRPr lang="en-US" sz="1650" dirty="0"/>
          </a:p>
          <a:p>
            <a:pPr marL="342900" indent="-342900">
              <a:spcAft>
                <a:spcPts val="1000"/>
              </a:spcAft>
              <a:buSzPct val="100000"/>
              <a:buChar char="•"/>
            </a:pPr>
            <a:r>
              <a:rPr lang="en-US" sz="1650" dirty="0">
                <a:solidFill>
                  <a:srgbClr val="2B2B2B"/>
                </a:solidFill>
                <a:latin typeface="Calibri" pitchFamily="34" charset="0"/>
                <a:ea typeface="Calibri" pitchFamily="34" charset="-122"/>
                <a:cs typeface="Calibri" pitchFamily="34" charset="-120"/>
              </a:rPr>
              <a:t>Columns reviewed via data.dtypes: identifiers, raw timestamps, and leakage columns removed.</a:t>
            </a:r>
            <a:endParaRPr lang="en-US" sz="1650" dirty="0"/>
          </a:p>
          <a:p>
            <a:pPr marL="342900" indent="-342900">
              <a:spcAft>
                <a:spcPts val="1000"/>
              </a:spcAft>
              <a:buSzPct val="100000"/>
              <a:buChar char="•"/>
            </a:pPr>
            <a:r>
              <a:rPr lang="en-US" sz="1650" dirty="0">
                <a:solidFill>
                  <a:srgbClr val="2B2B2B"/>
                </a:solidFill>
                <a:latin typeface="Calibri" pitchFamily="34" charset="0"/>
                <a:ea typeface="Calibri" pitchFamily="34" charset="-122"/>
                <a:cs typeface="Calibri" pitchFamily="34" charset="-120"/>
              </a:rPr>
              <a:t>model_data kept 10 columns: vendor_id, passenger_count, pickup/dropoff coordinates, store_and_fwd_flag, trip_duration, day_of_week, hour_of_day.</a:t>
            </a:r>
            <a:endParaRPr lang="en-US" sz="16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Outlier Handling — Domain-Based Cutoffs</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sp>
        <p:nvSpPr>
          <p:cNvPr id="4" name="Text 2"/>
          <p:cNvSpPr txBox="1"/>
          <p:nvPr/>
        </p:nvSpPr>
        <p:spPr>
          <a:xfrm>
            <a:off x="548640" y="1234440"/>
            <a:ext cx="11064240" cy="521208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rgbClr val="2B2B2B"/>
                </a:solidFill>
                <a:latin typeface="Calibri" pitchFamily="34" charset="0"/>
                <a:ea typeface="Calibri" pitchFamily="34" charset="-122"/>
                <a:cs typeface="Calibri" pitchFamily="34" charset="-120"/>
              </a:rPr>
              <a:t>trip_duration: IQR method flagged 74,220 trips (5.09%) as outliers (&gt;35 min) — too many valid trips to discard. A domain rule was used instead: keep 1 minute to 4 hours (removed 10,672 trips, 0.73%).</a:t>
            </a:r>
            <a:endParaRPr lang="en-US" sz="1450" dirty="0"/>
          </a:p>
          <a:p>
            <a:pPr marL="342900" indent="-342900">
              <a:spcAft>
                <a:spcPts val="1000"/>
              </a:spcAft>
              <a:buSzPct val="100000"/>
              <a:buChar char="•"/>
            </a:pPr>
            <a:r>
              <a:rPr lang="en-US" sz="1450" dirty="0">
                <a:solidFill>
                  <a:srgbClr val="2B2B2B"/>
                </a:solidFill>
                <a:latin typeface="Calibri" pitchFamily="34" charset="0"/>
                <a:ea typeface="Calibri" pitchFamily="34" charset="-122"/>
                <a:cs typeface="Calibri" pitchFamily="34" charset="-120"/>
              </a:rPr>
              <a:t>passenger_count: IQR flagged 153,849 trips (10.63%) as outliers (4+ passengers) — a normal group-ride scenario, not an error. Domain rule: keep 1–6 passengers (removed only 19 trips).</a:t>
            </a:r>
            <a:endParaRPr lang="en-US" sz="1450" dirty="0"/>
          </a:p>
          <a:p>
            <a:pPr marL="342900" indent="-342900">
              <a:spcAft>
                <a:spcPts val="1000"/>
              </a:spcAft>
              <a:buSzPct val="100000"/>
              <a:buChar char="•"/>
            </a:pPr>
            <a:r>
              <a:rPr lang="en-US" sz="1450" dirty="0">
                <a:solidFill>
                  <a:srgbClr val="2B2B2B"/>
                </a:solidFill>
                <a:latin typeface="Calibri" pitchFamily="34" charset="0"/>
                <a:ea typeface="Calibri" pitchFamily="34" charset="-122"/>
                <a:cs typeface="Calibri" pitchFamily="34" charset="-120"/>
              </a:rPr>
              <a:t>Coordinates: IQR flagged 82,350 trips (5.69%); a realistic NYC boundary box was used instead, removing only 6,915 trips (0.48%) — targeting genuine GPS errors, not real edge-of-city trips.</a:t>
            </a:r>
            <a:endParaRPr lang="en-US" sz="1450" dirty="0"/>
          </a:p>
          <a:p>
            <a:pPr marL="342900" indent="-342900">
              <a:spcAft>
                <a:spcPts val="1000"/>
              </a:spcAft>
              <a:buSzPct val="100000"/>
              <a:buChar char="•"/>
            </a:pPr>
            <a:r>
              <a:rPr lang="en-US" sz="1450" dirty="0">
                <a:solidFill>
                  <a:srgbClr val="2B2B2B"/>
                </a:solidFill>
                <a:latin typeface="Calibri" pitchFamily="34" charset="0"/>
                <a:ea typeface="Calibri" pitchFamily="34" charset="-122"/>
                <a:cs typeface="Calibri" pitchFamily="34" charset="-120"/>
              </a:rPr>
              <a:t>Total removed across all three steps: 17,606 rows (~1.2% of the original dataset).</a:t>
            </a:r>
            <a:endParaRPr lang="en-US" sz="14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Feature Engineering — Trip Distance</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sp>
        <p:nvSpPr>
          <p:cNvPr id="4" name="Text 2"/>
          <p:cNvSpPr txBox="1"/>
          <p:nvPr/>
        </p:nvSpPr>
        <p:spPr>
          <a:xfrm>
            <a:off x="548640" y="1234440"/>
            <a:ext cx="11064240" cy="52120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Raw longitude/latitude differences don't represent real-world distance.</a:t>
            </a:r>
            <a:endParaRPr lang="en-US" sz="16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The Haversine formula was used to calculate straight-line distance (km) between pickup and dropoff coordinates.</a:t>
            </a:r>
            <a:endParaRPr lang="en-US" sz="16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trip_distance_km: mean 3.39 km, median 2.10 km, max 33.08 km — consistent with typical city taxi trips.</a:t>
            </a:r>
            <a:endParaRPr lang="en-US" sz="16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4,027 trips (0.28%) show 0 km distance (identical pickup/dropoff) — retained, since this is a small share and could reflect genuine short/cancelled trips.</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Train/Test Split &amp; Feature Scaling</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sp>
        <p:nvSpPr>
          <p:cNvPr id="4" name="Text 2"/>
          <p:cNvSpPr txBox="1"/>
          <p:nvPr/>
        </p:nvSpPr>
        <p:spPr>
          <a:xfrm>
            <a:off x="548640" y="1234440"/>
            <a:ext cx="11064240" cy="5212080"/>
          </a:xfrm>
          <a:prstGeom prst="rect">
            <a:avLst/>
          </a:prstGeom>
          <a:noFill/>
          <a:ln/>
        </p:spPr>
        <p:txBody>
          <a:bodyPr wrap="square" lIns="0" tIns="0" rIns="0" bIns="0" rtlCol="0" anchor="t"/>
          <a:lstStyle/>
          <a:p>
            <a:pPr marL="342900" indent="-342900">
              <a:spcAft>
                <a:spcPts val="1000"/>
              </a:spcAft>
              <a:buSzPct val="100000"/>
              <a:buChar char="•"/>
            </a:pPr>
            <a:r>
              <a:rPr lang="en-US" sz="1650" dirty="0">
                <a:solidFill>
                  <a:srgbClr val="2B2B2B"/>
                </a:solidFill>
                <a:latin typeface="Calibri" pitchFamily="34" charset="0"/>
                <a:ea typeface="Calibri" pitchFamily="34" charset="-122"/>
                <a:cs typeface="Calibri" pitchFamily="34" charset="-120"/>
              </a:rPr>
              <a:t>X (10 features) and y (trip_duration) separated: 1,441,038 rows each.</a:t>
            </a:r>
            <a:endParaRPr lang="en-US" sz="1650" dirty="0"/>
          </a:p>
          <a:p>
            <a:pPr marL="342900" indent="-342900">
              <a:spcAft>
                <a:spcPts val="1000"/>
              </a:spcAft>
              <a:buSzPct val="100000"/>
              <a:buChar char="•"/>
            </a:pPr>
            <a:r>
              <a:rPr lang="en-US" sz="1650" dirty="0">
                <a:solidFill>
                  <a:srgbClr val="2B2B2B"/>
                </a:solidFill>
                <a:latin typeface="Calibri" pitchFamily="34" charset="0"/>
                <a:ea typeface="Calibri" pitchFamily="34" charset="-122"/>
                <a:cs typeface="Calibri" pitchFamily="34" charset="-120"/>
              </a:rPr>
              <a:t>Split before scaling, to avoid data leakage: 80% train (1,152,830) / 20% test (288,208).</a:t>
            </a:r>
            <a:endParaRPr lang="en-US" sz="1650" dirty="0"/>
          </a:p>
          <a:p>
            <a:pPr marL="342900" indent="-342900">
              <a:spcAft>
                <a:spcPts val="1000"/>
              </a:spcAft>
              <a:buSzPct val="100000"/>
              <a:buChar char="•"/>
            </a:pPr>
            <a:r>
              <a:rPr lang="en-US" sz="1650" dirty="0">
                <a:solidFill>
                  <a:srgbClr val="2B2B2B"/>
                </a:solidFill>
                <a:latin typeface="Calibri" pitchFamily="34" charset="0"/>
                <a:ea typeface="Calibri" pitchFamily="34" charset="-122"/>
                <a:cs typeface="Calibri" pitchFamily="34" charset="-120"/>
              </a:rPr>
              <a:t>Features scaled with StandardScaler (mean 0, std 1) — essential for KNN, a distance-based algorithm.</a:t>
            </a:r>
            <a:endParaRPr lang="en-US" sz="1650" dirty="0"/>
          </a:p>
          <a:p>
            <a:pPr marL="342900" indent="-342900">
              <a:spcAft>
                <a:spcPts val="1000"/>
              </a:spcAft>
              <a:buSzPct val="100000"/>
              <a:buChar char="•"/>
            </a:pPr>
            <a:r>
              <a:rPr lang="en-US" sz="1650" dirty="0">
                <a:solidFill>
                  <a:srgbClr val="2B2B2B"/>
                </a:solidFill>
                <a:latin typeface="Calibri" pitchFamily="34" charset="0"/>
                <a:ea typeface="Calibri" pitchFamily="34" charset="-122"/>
                <a:cs typeface="Calibri" pitchFamily="34" charset="-120"/>
              </a:rPr>
              <a:t>Scaler fit only on training data, then applied to both sets — prevents test-set information leaking into training.</a:t>
            </a:r>
            <a:endParaRPr lang="en-US" sz="16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Choosing the Best K (KNN)</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pic>
        <p:nvPicPr>
          <p:cNvPr id="4" name="Image 0" descr="/home/claude/imgs/k_tuning.png">    </p:cNvPr>
          <p:cNvPicPr>
            <a:picLocks noChangeAspect="1"/>
          </p:cNvPicPr>
          <p:nvPr/>
        </p:nvPicPr>
        <p:blipFill>
          <a:blip r:embed="rId1"/>
          <a:srcRect l="0" r="0" t="0" b="0"/>
          <a:stretch/>
        </p:blipFill>
        <p:spPr>
          <a:xfrm>
            <a:off x="548640" y="1280160"/>
            <a:ext cx="5486400" cy="3401568"/>
          </a:xfrm>
          <a:prstGeom prst="rect">
            <a:avLst/>
          </a:prstGeom>
        </p:spPr>
      </p:pic>
      <p:sp>
        <p:nvSpPr>
          <p:cNvPr id="5" name="Text 2"/>
          <p:cNvSpPr txBox="1"/>
          <p:nvPr/>
        </p:nvSpPr>
        <p:spPr>
          <a:xfrm>
            <a:off x="6355080" y="1280160"/>
            <a:ext cx="5257800" cy="51206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K = 1, 3, 5, 9, 15, 25, 50, 75, 100 tested on a 50,000-row sample.</a:t>
            </a:r>
            <a:endParaRPr lang="en-US" sz="1300" dirty="0"/>
          </a:p>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K=1: severe overfitting (Train R2 = 1.0, Test R2 = 0.464).</a:t>
            </a:r>
            <a:endParaRPr lang="en-US" sz="1300" dirty="0"/>
          </a:p>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K=75/100: underfitting (both scores low and near-identical).</a:t>
            </a:r>
            <a:endParaRPr lang="en-US" sz="1300" dirty="0"/>
          </a:p>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Best balance around K=9–15, confirmed next with 5-fold cross-validation.</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Cross-Validation &amp; Final KNN Model</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sp>
        <p:nvSpPr>
          <p:cNvPr id="4" name="Text 2"/>
          <p:cNvSpPr txBox="1"/>
          <p:nvPr/>
        </p:nvSpPr>
        <p:spPr>
          <a:xfrm>
            <a:off x="548640" y="1234440"/>
            <a:ext cx="11064240" cy="521208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2B2B2B"/>
                </a:solidFill>
                <a:latin typeface="Calibri" pitchFamily="34" charset="0"/>
                <a:ea typeface="Calibri" pitchFamily="34" charset="-122"/>
                <a:cs typeface="Calibri" pitchFamily="34" charset="-120"/>
              </a:rPr>
              <a:t>5-fold CV results: K=9 -&gt; mean R2 = 0.6924; K=15 -&gt; mean R2 = 0.6952 (highest).</a:t>
            </a:r>
            <a:endParaRPr lang="en-US" sz="1700" dirty="0"/>
          </a:p>
          <a:p>
            <a:pPr marL="342900" indent="-342900">
              <a:spcAft>
                <a:spcPts val="1000"/>
              </a:spcAft>
              <a:buSzPct val="100000"/>
              <a:buChar char="•"/>
            </a:pPr>
            <a:r>
              <a:rPr lang="en-US" sz="1700" dirty="0">
                <a:solidFill>
                  <a:srgbClr val="2B2B2B"/>
                </a:solidFill>
                <a:latin typeface="Calibri" pitchFamily="34" charset="0"/>
                <a:ea typeface="Calibri" pitchFamily="34" charset="-122"/>
                <a:cs typeface="Calibri" pitchFamily="34" charset="-120"/>
              </a:rPr>
              <a:t>K=15 selected as the final value.</a:t>
            </a:r>
            <a:endParaRPr lang="en-US" sz="1700" dirty="0"/>
          </a:p>
          <a:p>
            <a:pPr indent="0" marL="0">
              <a:spcAft>
                <a:spcPts val="1000"/>
              </a:spcAft>
              <a:buNone/>
            </a:pPr>
            <a:r>
              <a:rPr lang="en-US" sz="1700" b="1" dirty="0">
                <a:solidFill>
                  <a:srgbClr val="1F2A44"/>
                </a:solidFill>
                <a:latin typeface="Calibri" pitchFamily="34" charset="0"/>
                <a:ea typeface="Calibri" pitchFamily="34" charset="-122"/>
                <a:cs typeface="Calibri" pitchFamily="34" charset="-120"/>
              </a:rPr>
              <a:t>Final KNN Model (K=15) — full training set:</a:t>
            </a:r>
            <a:endParaRPr lang="en-US" sz="1700" dirty="0"/>
          </a:p>
          <a:p>
            <a:pPr marL="342900" indent="-342900">
              <a:spcAft>
                <a:spcPts val="1000"/>
              </a:spcAft>
              <a:buSzPct val="100000"/>
              <a:buChar char="•"/>
            </a:pPr>
            <a:r>
              <a:rPr lang="en-US" sz="1700" dirty="0">
                <a:solidFill>
                  <a:srgbClr val="2B2B2B"/>
                </a:solidFill>
                <a:latin typeface="Calibri" pitchFamily="34" charset="0"/>
                <a:ea typeface="Calibri" pitchFamily="34" charset="-122"/>
                <a:cs typeface="Calibri" pitchFamily="34" charset="-120"/>
              </a:rPr>
              <a:t>MAE = 199.90 seconds   |   RMSE = 322.82 seconds   |   R2 = 0.7540</a:t>
            </a:r>
            <a:endParaRPr lang="en-US" sz="1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Linear Regression — Comparison Model</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sp>
        <p:nvSpPr>
          <p:cNvPr id="4" name="Text 2"/>
          <p:cNvSpPr txBox="1"/>
          <p:nvPr/>
        </p:nvSpPr>
        <p:spPr>
          <a:xfrm>
            <a:off x="548640" y="1234440"/>
            <a:ext cx="11064240" cy="5212080"/>
          </a:xfrm>
          <a:prstGeom prst="rect">
            <a:avLst/>
          </a:prstGeom>
          <a:noFill/>
          <a:ln/>
        </p:spPr>
        <p:txBody>
          <a:bodyPr wrap="square" lIns="0" tIns="0" rIns="0" bIns="0" rtlCol="0" anchor="t"/>
          <a:lstStyle/>
          <a:p>
            <a:pPr indent="0" marL="0">
              <a:spcAft>
                <a:spcPts val="1000"/>
              </a:spcAft>
              <a:buNone/>
            </a:pPr>
            <a:r>
              <a:rPr lang="en-US" sz="1700" b="1" dirty="0">
                <a:solidFill>
                  <a:srgbClr val="1F2A44"/>
                </a:solidFill>
                <a:latin typeface="Calibri" pitchFamily="34" charset="0"/>
                <a:ea typeface="Calibri" pitchFamily="34" charset="-122"/>
                <a:cs typeface="Calibri" pitchFamily="34" charset="-120"/>
              </a:rPr>
              <a:t>Linear Regression results:</a:t>
            </a:r>
            <a:endParaRPr lang="en-US" sz="1700" dirty="0"/>
          </a:p>
          <a:p>
            <a:pPr marL="342900" indent="-342900">
              <a:spcAft>
                <a:spcPts val="1000"/>
              </a:spcAft>
              <a:buSzPct val="100000"/>
              <a:buChar char="•"/>
            </a:pPr>
            <a:r>
              <a:rPr lang="en-US" sz="1700" dirty="0">
                <a:solidFill>
                  <a:srgbClr val="2B2B2B"/>
                </a:solidFill>
                <a:latin typeface="Calibri" pitchFamily="34" charset="0"/>
                <a:ea typeface="Calibri" pitchFamily="34" charset="-122"/>
                <a:cs typeface="Calibri" pitchFamily="34" charset="-120"/>
              </a:rPr>
              <a:t>MAE = 277.96 seconds   |   RMSE = 412.05 seconds   |   R2 = 0.5993</a:t>
            </a:r>
            <a:endParaRPr lang="en-US" sz="1700" dirty="0"/>
          </a:p>
          <a:p>
            <a:pPr indent="0" marL="0">
              <a:spcAft>
                <a:spcPts val="1000"/>
              </a:spcAft>
              <a:buNone/>
            </a:pPr>
            <a:r>
              <a:rPr lang="en-US" sz="1700" b="1" dirty="0">
                <a:solidFill>
                  <a:srgbClr val="1F2A44"/>
                </a:solidFill>
                <a:latin typeface="Calibri" pitchFamily="34" charset="0"/>
                <a:ea typeface="Calibri" pitchFamily="34" charset="-122"/>
                <a:cs typeface="Calibri" pitchFamily="34" charset="-120"/>
              </a:rPr>
              <a:t>Model Comparison:</a:t>
            </a:r>
            <a:endParaRPr lang="en-US" sz="1700" dirty="0"/>
          </a:p>
          <a:p>
            <a:pPr marL="342900" indent="-342900">
              <a:spcAft>
                <a:spcPts val="1000"/>
              </a:spcAft>
              <a:buSzPct val="100000"/>
              <a:buChar char="•"/>
            </a:pPr>
            <a:r>
              <a:rPr lang="en-US" sz="1700" dirty="0">
                <a:solidFill>
                  <a:srgbClr val="2B2B2B"/>
                </a:solidFill>
                <a:latin typeface="Calibri" pitchFamily="34" charset="0"/>
                <a:ea typeface="Calibri" pitchFamily="34" charset="-122"/>
                <a:cs typeface="Calibri" pitchFamily="34" charset="-120"/>
              </a:rPr>
              <a:t>KNN (K=15) outperforms Linear Regression on all three metrics — lower MAE, lower RMSE, higher R2.</a:t>
            </a:r>
            <a:endParaRPr lang="en-US" sz="1700" dirty="0"/>
          </a:p>
          <a:p>
            <a:pPr marL="342900" indent="-342900">
              <a:spcAft>
                <a:spcPts val="1000"/>
              </a:spcAft>
              <a:buSzPct val="100000"/>
              <a:buChar char="•"/>
            </a:pPr>
            <a:r>
              <a:rPr lang="en-US" sz="1700" dirty="0">
                <a:solidFill>
                  <a:srgbClr val="2B2B2B"/>
                </a:solidFill>
                <a:latin typeface="Calibri" pitchFamily="34" charset="0"/>
                <a:ea typeface="Calibri" pitchFamily="34" charset="-122"/>
                <a:cs typeface="Calibri" pitchFamily="34" charset="-120"/>
              </a:rPr>
              <a:t>KNN was better able to capture the (non-linear) relationships in this dataset.</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Linear Regression — Coefficients</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pic>
        <p:nvPicPr>
          <p:cNvPr id="4" name="Image 0" descr="/home/claude/imgs/coef_plot.png">    </p:cNvPr>
          <p:cNvPicPr>
            <a:picLocks noChangeAspect="1"/>
          </p:cNvPicPr>
          <p:nvPr/>
        </p:nvPicPr>
        <p:blipFill>
          <a:blip r:embed="rId1"/>
          <a:srcRect l="0" r="0" t="0" b="0"/>
          <a:stretch/>
        </p:blipFill>
        <p:spPr>
          <a:xfrm>
            <a:off x="548640" y="1280160"/>
            <a:ext cx="5669280" cy="3514954"/>
          </a:xfrm>
          <a:prstGeom prst="rect">
            <a:avLst/>
          </a:prstGeom>
        </p:spPr>
      </p:pic>
      <p:sp>
        <p:nvSpPr>
          <p:cNvPr id="5" name="Text 2"/>
          <p:cNvSpPr txBox="1"/>
          <p:nvPr/>
        </p:nvSpPr>
        <p:spPr>
          <a:xfrm>
            <a:off x="6537960" y="1280160"/>
            <a:ext cx="5074920" cy="512064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2B2B2B"/>
                </a:solidFill>
                <a:latin typeface="Calibri" pitchFamily="34" charset="0"/>
                <a:ea typeface="Calibri" pitchFamily="34" charset="-122"/>
                <a:cs typeface="Calibri" pitchFamily="34" charset="-120"/>
              </a:rPr>
              <a:t>trip_distance_km (539.16) is by far the strongest contributor to predicted duration.</a:t>
            </a:r>
            <a:endParaRPr lang="en-US" sz="1350" dirty="0"/>
          </a:p>
          <a:p>
            <a:pPr marL="342900" indent="-342900">
              <a:spcAft>
                <a:spcPts val="800"/>
              </a:spcAft>
              <a:buSzPct val="100000"/>
              <a:buChar char="•"/>
            </a:pPr>
            <a:r>
              <a:rPr lang="en-US" sz="1350" dirty="0">
                <a:solidFill>
                  <a:srgbClr val="2B2B2B"/>
                </a:solidFill>
                <a:latin typeface="Calibri" pitchFamily="34" charset="0"/>
                <a:ea typeface="Calibri" pitchFamily="34" charset="-122"/>
                <a:cs typeface="Calibri" pitchFamily="34" charset="-120"/>
              </a:rPr>
              <a:t>hour_of_day (24.68) and day_of_week (-25.83) also meaningfully affect the prediction.</a:t>
            </a:r>
            <a:endParaRPr lang="en-US" sz="1350" dirty="0"/>
          </a:p>
          <a:p>
            <a:pPr marL="342900" indent="-342900">
              <a:spcAft>
                <a:spcPts val="800"/>
              </a:spcAft>
              <a:buSzPct val="100000"/>
              <a:buChar char="•"/>
            </a:pPr>
            <a:r>
              <a:rPr lang="en-US" sz="1350" dirty="0">
                <a:solidFill>
                  <a:srgbClr val="2B2B2B"/>
                </a:solidFill>
                <a:latin typeface="Calibri" pitchFamily="34" charset="0"/>
                <a:ea typeface="Calibri" pitchFamily="34" charset="-122"/>
                <a:cs typeface="Calibri" pitchFamily="34" charset="-120"/>
              </a:rPr>
              <a:t>vendor_id (-0.044) contributes almost nothing once other features are included.</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Residual Diagnostics (1/2)</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pic>
        <p:nvPicPr>
          <p:cNvPr id="4" name="Image 0" descr="/home/claude/imgs/residual_plot.png">    </p:cNvPr>
          <p:cNvPicPr>
            <a:picLocks noChangeAspect="1"/>
          </p:cNvPicPr>
          <p:nvPr/>
        </p:nvPicPr>
        <p:blipFill>
          <a:blip r:embed="rId1"/>
          <a:srcRect l="0" r="0" t="0" b="0"/>
          <a:stretch/>
        </p:blipFill>
        <p:spPr>
          <a:xfrm>
            <a:off x="548640" y="1371600"/>
            <a:ext cx="5394960" cy="4023360"/>
          </a:xfrm>
          <a:prstGeom prst="rect">
            <a:avLst/>
          </a:prstGeom>
        </p:spPr>
      </p:pic>
      <p:pic>
        <p:nvPicPr>
          <p:cNvPr id="5" name="Image 1" descr="/home/claude/imgs/residual_hist.png">    </p:cNvPr>
          <p:cNvPicPr>
            <a:picLocks noChangeAspect="1"/>
          </p:cNvPicPr>
          <p:nvPr/>
        </p:nvPicPr>
        <p:blipFill>
          <a:blip r:embed="rId2"/>
          <a:srcRect l="0" r="0" t="0" b="0"/>
          <a:stretch/>
        </p:blipFill>
        <p:spPr>
          <a:xfrm>
            <a:off x="6217920" y="1371600"/>
            <a:ext cx="5394960" cy="4023360"/>
          </a:xfrm>
          <a:prstGeom prst="rect">
            <a:avLst/>
          </a:prstGeom>
        </p:spPr>
      </p:pic>
      <p:sp>
        <p:nvSpPr>
          <p:cNvPr id="6" name="Text 2"/>
          <p:cNvSpPr txBox="1"/>
          <p:nvPr/>
        </p:nvSpPr>
        <p:spPr>
          <a:xfrm>
            <a:off x="548640" y="5486400"/>
            <a:ext cx="5394960" cy="822960"/>
          </a:xfrm>
          <a:prstGeom prst="rect">
            <a:avLst/>
          </a:prstGeom>
          <a:noFill/>
          <a:ln/>
        </p:spPr>
        <p:txBody>
          <a:bodyPr wrap="square" lIns="0" tIns="0" rIns="0" bIns="0" rtlCol="0" anchor="ctr"/>
          <a:lstStyle/>
          <a:p>
            <a:pPr indent="0" marL="0">
              <a:buNone/>
            </a:pPr>
            <a:r>
              <a:rPr lang="en-US" sz="1250" dirty="0">
                <a:solidFill>
                  <a:srgbClr val="5A5A5A"/>
                </a:solidFill>
                <a:latin typeface="Calibri" pitchFamily="34" charset="0"/>
                <a:ea typeface="Calibri" pitchFamily="34" charset="-122"/>
                <a:cs typeface="Calibri" pitchFamily="34" charset="-120"/>
              </a:rPr>
              <a:t>Residual plot: a funnel shape — larger errors for shorter predicted trips, smaller errors for longer ones.</a:t>
            </a:r>
            <a:endParaRPr lang="en-US" sz="1250" dirty="0"/>
          </a:p>
        </p:txBody>
      </p:sp>
      <p:sp>
        <p:nvSpPr>
          <p:cNvPr id="7" name="Text 3"/>
          <p:cNvSpPr txBox="1"/>
          <p:nvPr/>
        </p:nvSpPr>
        <p:spPr>
          <a:xfrm>
            <a:off x="6217920" y="5486400"/>
            <a:ext cx="5394960" cy="822960"/>
          </a:xfrm>
          <a:prstGeom prst="rect">
            <a:avLst/>
          </a:prstGeom>
          <a:noFill/>
          <a:ln/>
        </p:spPr>
        <p:txBody>
          <a:bodyPr wrap="square" lIns="0" tIns="0" rIns="0" bIns="0" rtlCol="0" anchor="ctr"/>
          <a:lstStyle/>
          <a:p>
            <a:pPr indent="0" marL="0">
              <a:buNone/>
            </a:pPr>
            <a:r>
              <a:rPr lang="en-US" sz="1250" dirty="0">
                <a:solidFill>
                  <a:srgbClr val="5A5A5A"/>
                </a:solidFill>
                <a:latin typeface="Calibri" pitchFamily="34" charset="0"/>
                <a:ea typeface="Calibri" pitchFamily="34" charset="-122"/>
                <a:cs typeface="Calibri" pitchFamily="34" charset="-120"/>
              </a:rPr>
              <a:t>Histogram: roughly bell-shaped near zero, with a long right tail of underestimated trips.</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Residual Diagnostics (2/2) — QQ Plot</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pic>
        <p:nvPicPr>
          <p:cNvPr id="4" name="Image 0" descr="/home/claude/imgs/qq_plot.png">    </p:cNvPr>
          <p:cNvPicPr>
            <a:picLocks noChangeAspect="1"/>
          </p:cNvPicPr>
          <p:nvPr/>
        </p:nvPicPr>
        <p:blipFill>
          <a:blip r:embed="rId1"/>
          <a:srcRect l="0" r="0" t="0" b="0"/>
          <a:stretch/>
        </p:blipFill>
        <p:spPr>
          <a:xfrm>
            <a:off x="548640" y="1280160"/>
            <a:ext cx="4937760" cy="3061411"/>
          </a:xfrm>
          <a:prstGeom prst="rect">
            <a:avLst/>
          </a:prstGeom>
        </p:spPr>
      </p:pic>
      <p:sp>
        <p:nvSpPr>
          <p:cNvPr id="5" name="Text 2"/>
          <p:cNvSpPr txBox="1"/>
          <p:nvPr/>
        </p:nvSpPr>
        <p:spPr>
          <a:xfrm>
            <a:off x="5806440" y="1280160"/>
            <a:ext cx="5806440" cy="5120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B2B2B"/>
                </a:solidFill>
                <a:latin typeface="Calibri" pitchFamily="34" charset="0"/>
                <a:ea typeface="Calibri" pitchFamily="34" charset="-122"/>
                <a:cs typeface="Calibri" pitchFamily="34" charset="-120"/>
              </a:rPr>
              <a:t>Middle of the plot follows the normal-distribution line closely.</a:t>
            </a:r>
            <a:endParaRPr lang="en-US" sz="1400" dirty="0"/>
          </a:p>
          <a:p>
            <a:pPr marL="342900" indent="-342900">
              <a:spcAft>
                <a:spcPts val="800"/>
              </a:spcAft>
              <a:buSzPct val="100000"/>
              <a:buChar char="•"/>
            </a:pPr>
            <a:r>
              <a:rPr lang="en-US" sz="1400" dirty="0">
                <a:solidFill>
                  <a:srgbClr val="2B2B2B"/>
                </a:solidFill>
                <a:latin typeface="Calibri" pitchFamily="34" charset="0"/>
                <a:ea typeface="Calibri" pitchFamily="34" charset="-122"/>
                <a:cs typeface="Calibri" pitchFamily="34" charset="-120"/>
              </a:rPr>
              <a:t>Points curve sharply upward at the high end — more extreme positive residuals than a normal distribution predicts.</a:t>
            </a:r>
            <a:endParaRPr lang="en-US" sz="1400" dirty="0"/>
          </a:p>
          <a:p>
            <a:pPr marL="342900" indent="-342900">
              <a:spcAft>
                <a:spcPts val="800"/>
              </a:spcAft>
              <a:buSzPct val="100000"/>
              <a:buChar char="•"/>
            </a:pPr>
            <a:r>
              <a:rPr lang="en-US" sz="1400" dirty="0">
                <a:solidFill>
                  <a:srgbClr val="2B2B2B"/>
                </a:solidFill>
                <a:latin typeface="Calibri" pitchFamily="34" charset="0"/>
                <a:ea typeface="Calibri" pitchFamily="34" charset="-122"/>
                <a:cs typeface="Calibri" pitchFamily="34" charset="-120"/>
              </a:rPr>
              <a:t>Confirms the relationship between features and trip duration isn't fully linear — a known limitation of Linear Regression on this dataset.</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Final Conclusion</a:t>
            </a:r>
            <a:endParaRPr lang="en-US" sz="2600" dirty="0"/>
          </a:p>
        </p:txBody>
      </p:sp>
      <p:sp>
        <p:nvSpPr>
          <p:cNvPr id="3" name="Shape 1"/>
          <p:cNvSpPr/>
          <p:nvPr/>
        </p:nvSpPr>
        <p:spPr>
          <a:xfrm>
            <a:off x="457200" y="960120"/>
            <a:ext cx="2743200" cy="0"/>
          </a:xfrm>
          <a:prstGeom prst="line">
            <a:avLst/>
          </a:prstGeom>
          <a:noFill/>
          <a:ln w="25400">
            <a:solidFill>
              <a:srgbClr val="C9A227"/>
            </a:solidFill>
            <a:prstDash val="solid"/>
          </a:ln>
        </p:spPr>
      </p:sp>
      <p:sp>
        <p:nvSpPr>
          <p:cNvPr id="4" name="Text 2"/>
          <p:cNvSpPr txBox="1"/>
          <p:nvPr/>
        </p:nvSpPr>
        <p:spPr>
          <a:xfrm>
            <a:off x="548640" y="1234440"/>
            <a:ext cx="11064240" cy="52120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EDA showed trip duration is affected by time of day, day of week, and (weakly) vendor and passenger count.</a:t>
            </a:r>
            <a:endParaRPr lang="en-US" sz="16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Two models were trained and compared: KNN (K=15, tuned via cross-validation) and Linear Regression.</a:t>
            </a:r>
            <a:endParaRPr lang="en-US" sz="16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KNN (K=15): MAE 199.90s, RMSE 322.82s, R2 = 0.754 — the better-performing model on all three metrics.</a:t>
            </a:r>
            <a:endParaRPr lang="en-US" sz="16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Linear Regression: MAE 277.96s, RMSE 412.05s, R2 = 0.599 — residual diagnostics confirm the relationship isn't fully linear.</a:t>
            </a:r>
            <a:endParaRPr lang="en-US" sz="16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Recommendation: KNN (K=15) is the better model for predicting NYC taxi trip duration on this dataset.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2026-09-01T10:37:40Z</dcterms:created>
  <dcterms:modified xsi:type="dcterms:W3CDTF">2026-09-01T10:37:40Z</dcterms:modified>
</cp:coreProperties>
</file>